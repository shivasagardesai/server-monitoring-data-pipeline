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media/image7.jpg" ContentType="image/pn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3" r:id="rId6"/>
    <p:sldId id="260" r:id="rId7"/>
    <p:sldId id="261" r:id="rId8"/>
    <p:sldId id="262"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8" d="100"/>
          <a:sy n="68" d="100"/>
        </p:scale>
        <p:origin x="616"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41429A4-63E6-41C5-A454-0029B55B8A88}" type="datetimeFigureOut">
              <a:rPr lang="en-IN" smtClean="0"/>
              <a:t>14-03-2026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BC0E6D-F85F-4334-9727-FB0021CF196A}" type="slidenum">
              <a:rPr lang="en-IN" smtClean="0"/>
              <a:t>‹#›</a:t>
            </a:fld>
            <a:endParaRPr lang="en-IN"/>
          </a:p>
        </p:txBody>
      </p:sp>
    </p:spTree>
    <p:extLst>
      <p:ext uri="{BB962C8B-B14F-4D97-AF65-F5344CB8AC3E}">
        <p14:creationId xmlns:p14="http://schemas.microsoft.com/office/powerpoint/2010/main" val="2574509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41429A4-63E6-41C5-A454-0029B55B8A88}" type="datetimeFigureOut">
              <a:rPr lang="en-IN" smtClean="0"/>
              <a:t>14-03-2026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BC0E6D-F85F-4334-9727-FB0021CF196A}" type="slidenum">
              <a:rPr lang="en-IN" smtClean="0"/>
              <a:t>‹#›</a:t>
            </a:fld>
            <a:endParaRPr lang="en-IN"/>
          </a:p>
        </p:txBody>
      </p:sp>
    </p:spTree>
    <p:extLst>
      <p:ext uri="{BB962C8B-B14F-4D97-AF65-F5344CB8AC3E}">
        <p14:creationId xmlns:p14="http://schemas.microsoft.com/office/powerpoint/2010/main" val="22294744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41429A4-63E6-41C5-A454-0029B55B8A88}" type="datetimeFigureOut">
              <a:rPr lang="en-IN" smtClean="0"/>
              <a:t>14-03-2026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BC0E6D-F85F-4334-9727-FB0021CF196A}" type="slidenum">
              <a:rPr lang="en-IN" smtClean="0"/>
              <a:t>‹#›</a:t>
            </a:fld>
            <a:endParaRPr lang="en-IN"/>
          </a:p>
        </p:txBody>
      </p:sp>
    </p:spTree>
    <p:extLst>
      <p:ext uri="{BB962C8B-B14F-4D97-AF65-F5344CB8AC3E}">
        <p14:creationId xmlns:p14="http://schemas.microsoft.com/office/powerpoint/2010/main" val="12252995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41429A4-63E6-41C5-A454-0029B55B8A88}" type="datetimeFigureOut">
              <a:rPr lang="en-IN" smtClean="0"/>
              <a:t>14-03-2026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FBC0E6D-F85F-4334-9727-FB0021CF196A}" type="slidenum">
              <a:rPr lang="en-IN" smtClean="0"/>
              <a:t>‹#›</a:t>
            </a:fld>
            <a:endParaRPr lang="en-IN"/>
          </a:p>
        </p:txBody>
      </p:sp>
    </p:spTree>
    <p:extLst>
      <p:ext uri="{BB962C8B-B14F-4D97-AF65-F5344CB8AC3E}">
        <p14:creationId xmlns:p14="http://schemas.microsoft.com/office/powerpoint/2010/main" val="374767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41429A4-63E6-41C5-A454-0029B55B8A88}" type="datetimeFigureOut">
              <a:rPr lang="en-IN" smtClean="0"/>
              <a:t>14-03-2026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FBC0E6D-F85F-4334-9727-FB0021CF196A}" type="slidenum">
              <a:rPr lang="en-IN" smtClean="0"/>
              <a:t>‹#›</a:t>
            </a:fld>
            <a:endParaRPr lang="en-IN"/>
          </a:p>
        </p:txBody>
      </p:sp>
    </p:spTree>
    <p:extLst>
      <p:ext uri="{BB962C8B-B14F-4D97-AF65-F5344CB8AC3E}">
        <p14:creationId xmlns:p14="http://schemas.microsoft.com/office/powerpoint/2010/main" val="7582513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41429A4-63E6-41C5-A454-0029B55B8A88}" type="datetimeFigureOut">
              <a:rPr lang="en-IN" smtClean="0"/>
              <a:t>14-03-2026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FBC0E6D-F85F-4334-9727-FB0021CF196A}" type="slidenum">
              <a:rPr lang="en-IN" smtClean="0"/>
              <a:t>‹#›</a:t>
            </a:fld>
            <a:endParaRPr lang="en-IN"/>
          </a:p>
        </p:txBody>
      </p:sp>
    </p:spTree>
    <p:extLst>
      <p:ext uri="{BB962C8B-B14F-4D97-AF65-F5344CB8AC3E}">
        <p14:creationId xmlns:p14="http://schemas.microsoft.com/office/powerpoint/2010/main" val="3405081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1429A4-63E6-41C5-A454-0029B55B8A88}" type="datetimeFigureOut">
              <a:rPr lang="en-IN" smtClean="0"/>
              <a:t>14-03-2026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FBC0E6D-F85F-4334-9727-FB0021CF196A}" type="slidenum">
              <a:rPr lang="en-IN" smtClean="0"/>
              <a:t>‹#›</a:t>
            </a:fld>
            <a:endParaRPr lang="en-IN"/>
          </a:p>
        </p:txBody>
      </p:sp>
    </p:spTree>
    <p:extLst>
      <p:ext uri="{BB962C8B-B14F-4D97-AF65-F5344CB8AC3E}">
        <p14:creationId xmlns:p14="http://schemas.microsoft.com/office/powerpoint/2010/main" val="36916806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41429A4-63E6-41C5-A454-0029B55B8A88}" type="datetimeFigureOut">
              <a:rPr lang="en-IN" smtClean="0"/>
              <a:t>14-03-2026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FBC0E6D-F85F-4334-9727-FB0021CF196A}" type="slidenum">
              <a:rPr lang="en-IN" smtClean="0"/>
              <a:t>‹#›</a:t>
            </a:fld>
            <a:endParaRPr lang="en-IN"/>
          </a:p>
        </p:txBody>
      </p:sp>
    </p:spTree>
    <p:extLst>
      <p:ext uri="{BB962C8B-B14F-4D97-AF65-F5344CB8AC3E}">
        <p14:creationId xmlns:p14="http://schemas.microsoft.com/office/powerpoint/2010/main" val="32790114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41429A4-63E6-41C5-A454-0029B55B8A88}" type="datetimeFigureOut">
              <a:rPr lang="en-IN" smtClean="0"/>
              <a:t>14-03-2026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FBC0E6D-F85F-4334-9727-FB0021CF196A}" type="slidenum">
              <a:rPr lang="en-IN" smtClean="0"/>
              <a:t>‹#›</a:t>
            </a:fld>
            <a:endParaRPr lang="en-IN"/>
          </a:p>
        </p:txBody>
      </p:sp>
    </p:spTree>
    <p:extLst>
      <p:ext uri="{BB962C8B-B14F-4D97-AF65-F5344CB8AC3E}">
        <p14:creationId xmlns:p14="http://schemas.microsoft.com/office/powerpoint/2010/main" val="7341963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41429A4-63E6-41C5-A454-0029B55B8A88}" type="datetimeFigureOut">
              <a:rPr lang="en-IN" smtClean="0"/>
              <a:t>14-03-2026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BC0E6D-F85F-4334-9727-FB0021CF196A}" type="slidenum">
              <a:rPr lang="en-IN" smtClean="0"/>
              <a:t>‹#›</a:t>
            </a:fld>
            <a:endParaRPr lang="en-IN"/>
          </a:p>
        </p:txBody>
      </p:sp>
    </p:spTree>
    <p:extLst>
      <p:ext uri="{BB962C8B-B14F-4D97-AF65-F5344CB8AC3E}">
        <p14:creationId xmlns:p14="http://schemas.microsoft.com/office/powerpoint/2010/main" val="1029534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41429A4-63E6-41C5-A454-0029B55B8A88}" type="datetimeFigureOut">
              <a:rPr lang="en-IN" smtClean="0"/>
              <a:t>14-03-2026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BC0E6D-F85F-4334-9727-FB0021CF196A}"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5261908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41429A4-63E6-41C5-A454-0029B55B8A88}" type="datetimeFigureOut">
              <a:rPr lang="en-IN" smtClean="0"/>
              <a:t>14-03-2026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BC0E6D-F85F-4334-9727-FB0021CF196A}" type="slidenum">
              <a:rPr lang="en-IN" smtClean="0"/>
              <a:t>‹#›</a:t>
            </a:fld>
            <a:endParaRPr lang="en-IN"/>
          </a:p>
        </p:txBody>
      </p:sp>
    </p:spTree>
    <p:extLst>
      <p:ext uri="{BB962C8B-B14F-4D97-AF65-F5344CB8AC3E}">
        <p14:creationId xmlns:p14="http://schemas.microsoft.com/office/powerpoint/2010/main" val="4934061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41429A4-63E6-41C5-A454-0029B55B8A88}" type="datetimeFigureOut">
              <a:rPr lang="en-IN" smtClean="0"/>
              <a:t>14-03-2026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BC0E6D-F85F-4334-9727-FB0021CF196A}"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673998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41429A4-63E6-41C5-A454-0029B55B8A88}" type="datetimeFigureOut">
              <a:rPr lang="en-IN" smtClean="0"/>
              <a:t>14-03-2026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BC0E6D-F85F-4334-9727-FB0021CF196A}" type="slidenum">
              <a:rPr lang="en-IN" smtClean="0"/>
              <a:t>‹#›</a:t>
            </a:fld>
            <a:endParaRPr lang="en-IN"/>
          </a:p>
        </p:txBody>
      </p:sp>
    </p:spTree>
    <p:extLst>
      <p:ext uri="{BB962C8B-B14F-4D97-AF65-F5344CB8AC3E}">
        <p14:creationId xmlns:p14="http://schemas.microsoft.com/office/powerpoint/2010/main" val="35314596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41429A4-63E6-41C5-A454-0029B55B8A88}" type="datetimeFigureOut">
              <a:rPr lang="en-IN" smtClean="0"/>
              <a:t>14-03-2026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BC0E6D-F85F-4334-9727-FB0021CF196A}" type="slidenum">
              <a:rPr lang="en-IN" smtClean="0"/>
              <a:t>‹#›</a:t>
            </a:fld>
            <a:endParaRPr lang="en-IN"/>
          </a:p>
        </p:txBody>
      </p:sp>
    </p:spTree>
    <p:extLst>
      <p:ext uri="{BB962C8B-B14F-4D97-AF65-F5344CB8AC3E}">
        <p14:creationId xmlns:p14="http://schemas.microsoft.com/office/powerpoint/2010/main" val="38758604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41429A4-63E6-41C5-A454-0029B55B8A88}" type="datetimeFigureOut">
              <a:rPr lang="en-IN" smtClean="0"/>
              <a:t>14-03-2026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BC0E6D-F85F-4334-9727-FB0021CF196A}" type="slidenum">
              <a:rPr lang="en-IN" smtClean="0"/>
              <a:t>‹#›</a:t>
            </a:fld>
            <a:endParaRPr lang="en-IN"/>
          </a:p>
        </p:txBody>
      </p:sp>
    </p:spTree>
    <p:extLst>
      <p:ext uri="{BB962C8B-B14F-4D97-AF65-F5344CB8AC3E}">
        <p14:creationId xmlns:p14="http://schemas.microsoft.com/office/powerpoint/2010/main" val="1016990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41429A4-63E6-41C5-A454-0029B55B8A88}" type="datetimeFigureOut">
              <a:rPr lang="en-IN" smtClean="0"/>
              <a:t>14-03-2026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0FBC0E6D-F85F-4334-9727-FB0021CF196A}" type="slidenum">
              <a:rPr lang="en-IN" smtClean="0"/>
              <a:t>‹#›</a:t>
            </a:fld>
            <a:endParaRPr lang="en-IN"/>
          </a:p>
        </p:txBody>
      </p:sp>
    </p:spTree>
    <p:extLst>
      <p:ext uri="{BB962C8B-B14F-4D97-AF65-F5344CB8AC3E}">
        <p14:creationId xmlns:p14="http://schemas.microsoft.com/office/powerpoint/2010/main" val="33705850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34197C6-7072-E4B2-F65F-EFFE3DC48C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1925" y="2044299"/>
            <a:ext cx="9079976" cy="1819275"/>
          </a:xfrm>
          <a:prstGeom prst="rect">
            <a:avLst/>
          </a:prstGeom>
        </p:spPr>
      </p:pic>
      <p:sp>
        <p:nvSpPr>
          <p:cNvPr id="6" name="Title 5">
            <a:extLst>
              <a:ext uri="{FF2B5EF4-FFF2-40B4-BE49-F238E27FC236}">
                <a16:creationId xmlns:a16="http://schemas.microsoft.com/office/drawing/2014/main" id="{C97876F0-F1E0-A3DA-D265-61A2ABBC1110}"/>
              </a:ext>
            </a:extLst>
          </p:cNvPr>
          <p:cNvSpPr>
            <a:spLocks noGrp="1"/>
          </p:cNvSpPr>
          <p:nvPr>
            <p:ph type="ctrTitle"/>
          </p:nvPr>
        </p:nvSpPr>
        <p:spPr>
          <a:xfrm>
            <a:off x="591924" y="4025245"/>
            <a:ext cx="8580356" cy="661480"/>
          </a:xfrm>
        </p:spPr>
        <p:txBody>
          <a:bodyPr/>
          <a:lstStyle/>
          <a:p>
            <a:r>
              <a:rPr lang="en-US" sz="2400" dirty="0"/>
              <a:t>Virtual Server Monitoring and Performance Optimization</a:t>
            </a:r>
            <a:endParaRPr lang="en-IN" sz="2400" dirty="0"/>
          </a:p>
        </p:txBody>
      </p:sp>
      <p:sp>
        <p:nvSpPr>
          <p:cNvPr id="7" name="Subtitle 6">
            <a:extLst>
              <a:ext uri="{FF2B5EF4-FFF2-40B4-BE49-F238E27FC236}">
                <a16:creationId xmlns:a16="http://schemas.microsoft.com/office/drawing/2014/main" id="{42288690-776D-B2A9-70F5-2A668420FFC1}"/>
              </a:ext>
            </a:extLst>
          </p:cNvPr>
          <p:cNvSpPr>
            <a:spLocks noGrp="1"/>
          </p:cNvSpPr>
          <p:nvPr>
            <p:ph type="subTitle" idx="1"/>
          </p:nvPr>
        </p:nvSpPr>
        <p:spPr>
          <a:xfrm>
            <a:off x="4212612" y="4848396"/>
            <a:ext cx="4899965" cy="1037646"/>
          </a:xfrm>
        </p:spPr>
        <p:txBody>
          <a:bodyPr>
            <a:normAutofit/>
          </a:bodyPr>
          <a:lstStyle/>
          <a:p>
            <a:r>
              <a:rPr lang="en-IN" sz="1400" dirty="0"/>
              <a:t>Name:- </a:t>
            </a:r>
            <a:r>
              <a:rPr lang="en-IN" sz="1400" dirty="0" err="1"/>
              <a:t>Shivasagar</a:t>
            </a:r>
            <a:r>
              <a:rPr lang="en-IN" sz="1400" dirty="0"/>
              <a:t> Desai</a:t>
            </a:r>
          </a:p>
          <a:p>
            <a:r>
              <a:rPr lang="en-IN" sz="1400" dirty="0"/>
              <a:t>Date :- 13-3-2026</a:t>
            </a:r>
          </a:p>
        </p:txBody>
      </p:sp>
      <p:pic>
        <p:nvPicPr>
          <p:cNvPr id="9" name="Graphic 8" descr="Database">
            <a:extLst>
              <a:ext uri="{FF2B5EF4-FFF2-40B4-BE49-F238E27FC236}">
                <a16:creationId xmlns:a16="http://schemas.microsoft.com/office/drawing/2014/main" id="{F6457FD6-DA6D-3385-2A6E-3B48867D473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7435" y="4106079"/>
            <a:ext cx="661481" cy="661481"/>
          </a:xfrm>
          <a:prstGeom prst="rect">
            <a:avLst/>
          </a:prstGeom>
        </p:spPr>
      </p:pic>
    </p:spTree>
    <p:extLst>
      <p:ext uri="{BB962C8B-B14F-4D97-AF65-F5344CB8AC3E}">
        <p14:creationId xmlns:p14="http://schemas.microsoft.com/office/powerpoint/2010/main" val="20045815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ADF83-1D4F-DC3F-CEDA-0A65515BFF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DBD9DB6-803E-34A3-220B-2ABA134AA7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877" y="106100"/>
            <a:ext cx="1164222" cy="233265"/>
          </a:xfrm>
          <a:prstGeom prst="rect">
            <a:avLst/>
          </a:prstGeom>
        </p:spPr>
      </p:pic>
      <p:sp>
        <p:nvSpPr>
          <p:cNvPr id="2" name="Title 1">
            <a:extLst>
              <a:ext uri="{FF2B5EF4-FFF2-40B4-BE49-F238E27FC236}">
                <a16:creationId xmlns:a16="http://schemas.microsoft.com/office/drawing/2014/main" id="{0E813A95-00D6-8264-FF2C-4305C5300921}"/>
              </a:ext>
            </a:extLst>
          </p:cNvPr>
          <p:cNvSpPr>
            <a:spLocks noGrp="1"/>
          </p:cNvSpPr>
          <p:nvPr>
            <p:ph type="title"/>
          </p:nvPr>
        </p:nvSpPr>
        <p:spPr>
          <a:xfrm>
            <a:off x="664988" y="1269476"/>
            <a:ext cx="8596668" cy="681872"/>
          </a:xfrm>
        </p:spPr>
        <p:txBody>
          <a:bodyPr/>
          <a:lstStyle/>
          <a:p>
            <a:r>
              <a:rPr lang="en-IN" dirty="0"/>
              <a:t>Problem Statement </a:t>
            </a:r>
          </a:p>
        </p:txBody>
      </p:sp>
      <p:sp>
        <p:nvSpPr>
          <p:cNvPr id="3" name="Content Placeholder 2">
            <a:extLst>
              <a:ext uri="{FF2B5EF4-FFF2-40B4-BE49-F238E27FC236}">
                <a16:creationId xmlns:a16="http://schemas.microsoft.com/office/drawing/2014/main" id="{FA20D692-266B-2F25-B85C-BBCA3D6072B0}"/>
              </a:ext>
            </a:extLst>
          </p:cNvPr>
          <p:cNvSpPr>
            <a:spLocks noGrp="1"/>
          </p:cNvSpPr>
          <p:nvPr>
            <p:ph idx="1"/>
          </p:nvPr>
        </p:nvSpPr>
        <p:spPr>
          <a:xfrm>
            <a:off x="561070" y="2339698"/>
            <a:ext cx="8596668" cy="3880773"/>
          </a:xfrm>
        </p:spPr>
        <p:txBody>
          <a:bodyPr/>
          <a:lstStyle/>
          <a:p>
            <a:r>
              <a:rPr lang="en-US" dirty="0"/>
              <a:t>•The company operates multiple virtual servers hosting critical applications</a:t>
            </a:r>
          </a:p>
          <a:p>
            <a:r>
              <a:rPr lang="en-US" dirty="0"/>
              <a:t>• Monitoring server performance manually is difficult to Handel to them</a:t>
            </a:r>
          </a:p>
          <a:p>
            <a:r>
              <a:rPr lang="en-US" dirty="0"/>
              <a:t>• High CPU or memory usage can lead to performance issues</a:t>
            </a:r>
          </a:p>
          <a:p>
            <a:r>
              <a:rPr lang="en-US" dirty="0"/>
              <a:t>• A monitoring system is required to analyze server health and resource usage</a:t>
            </a:r>
            <a:endParaRPr lang="en-IN" dirty="0"/>
          </a:p>
        </p:txBody>
      </p:sp>
    </p:spTree>
    <p:extLst>
      <p:ext uri="{BB962C8B-B14F-4D97-AF65-F5344CB8AC3E}">
        <p14:creationId xmlns:p14="http://schemas.microsoft.com/office/powerpoint/2010/main" val="12714359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30460-0FC1-0B9D-9077-29B13DEEF98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9C2C25F-C021-9CC8-454A-99CC4D7421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877" y="106100"/>
            <a:ext cx="1164222" cy="233265"/>
          </a:xfrm>
          <a:prstGeom prst="rect">
            <a:avLst/>
          </a:prstGeom>
        </p:spPr>
      </p:pic>
      <p:sp>
        <p:nvSpPr>
          <p:cNvPr id="2" name="Title 1">
            <a:extLst>
              <a:ext uri="{FF2B5EF4-FFF2-40B4-BE49-F238E27FC236}">
                <a16:creationId xmlns:a16="http://schemas.microsoft.com/office/drawing/2014/main" id="{94B92EE4-AFFB-4CA3-1E1A-99517C1949C2}"/>
              </a:ext>
            </a:extLst>
          </p:cNvPr>
          <p:cNvSpPr>
            <a:spLocks noGrp="1"/>
          </p:cNvSpPr>
          <p:nvPr>
            <p:ph type="title"/>
          </p:nvPr>
        </p:nvSpPr>
        <p:spPr>
          <a:xfrm>
            <a:off x="664988" y="1269476"/>
            <a:ext cx="8596668" cy="681872"/>
          </a:xfrm>
        </p:spPr>
        <p:txBody>
          <a:bodyPr/>
          <a:lstStyle/>
          <a:p>
            <a:r>
              <a:rPr lang="en-IN" dirty="0"/>
              <a:t>Dataset Overview</a:t>
            </a:r>
          </a:p>
        </p:txBody>
      </p:sp>
      <p:sp>
        <p:nvSpPr>
          <p:cNvPr id="3" name="Content Placeholder 2">
            <a:extLst>
              <a:ext uri="{FF2B5EF4-FFF2-40B4-BE49-F238E27FC236}">
                <a16:creationId xmlns:a16="http://schemas.microsoft.com/office/drawing/2014/main" id="{C5218DC6-A0C4-1955-305D-77DF2BE14C4F}"/>
              </a:ext>
            </a:extLst>
          </p:cNvPr>
          <p:cNvSpPr>
            <a:spLocks noGrp="1"/>
          </p:cNvSpPr>
          <p:nvPr>
            <p:ph idx="1"/>
          </p:nvPr>
        </p:nvSpPr>
        <p:spPr>
          <a:xfrm>
            <a:off x="561070" y="2253006"/>
            <a:ext cx="8596668" cy="4232634"/>
          </a:xfrm>
        </p:spPr>
        <p:txBody>
          <a:bodyPr>
            <a:normAutofit/>
          </a:bodyPr>
          <a:lstStyle/>
          <a:p>
            <a:r>
              <a:rPr lang="en-IN" dirty="0"/>
              <a:t>• server monitoring logs where there in Dataset</a:t>
            </a:r>
          </a:p>
          <a:p>
            <a:r>
              <a:rPr lang="en-IN" dirty="0"/>
              <a:t>• Each record represents a server performance </a:t>
            </a:r>
          </a:p>
          <a:p>
            <a:r>
              <a:rPr lang="en-IN" dirty="0"/>
              <a:t>• The dataset includes system metrics and metadata</a:t>
            </a:r>
          </a:p>
          <a:p>
            <a:r>
              <a:rPr lang="en-IN" b="1" u="sng" dirty="0"/>
              <a:t>Important columns:</a:t>
            </a:r>
          </a:p>
          <a:p>
            <a:r>
              <a:rPr lang="en-IN" dirty="0"/>
              <a:t>• CPU Utilization</a:t>
            </a:r>
          </a:p>
          <a:p>
            <a:r>
              <a:rPr lang="en-IN" dirty="0"/>
              <a:t>• Memory Usage</a:t>
            </a:r>
          </a:p>
          <a:p>
            <a:r>
              <a:rPr lang="en-IN" dirty="0"/>
              <a:t>• Disk IO</a:t>
            </a:r>
          </a:p>
          <a:p>
            <a:r>
              <a:rPr lang="en-IN" dirty="0"/>
              <a:t>• Network Traffic</a:t>
            </a:r>
          </a:p>
          <a:p>
            <a:r>
              <a:rPr lang="en-IN" dirty="0"/>
              <a:t>• Uptime and Downtime</a:t>
            </a:r>
          </a:p>
          <a:p>
            <a:r>
              <a:rPr lang="en-IN" dirty="0"/>
              <a:t>• Server Location and OS Type</a:t>
            </a:r>
          </a:p>
        </p:txBody>
      </p:sp>
    </p:spTree>
    <p:extLst>
      <p:ext uri="{BB962C8B-B14F-4D97-AF65-F5344CB8AC3E}">
        <p14:creationId xmlns:p14="http://schemas.microsoft.com/office/powerpoint/2010/main" val="3668729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EBB2F-6DA3-5F18-187D-867F74CB4BB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DE9D1CC-A6B6-B3AC-7D91-E70FAA1520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877" y="106100"/>
            <a:ext cx="1164222" cy="233265"/>
          </a:xfrm>
          <a:prstGeom prst="rect">
            <a:avLst/>
          </a:prstGeom>
        </p:spPr>
      </p:pic>
      <p:sp>
        <p:nvSpPr>
          <p:cNvPr id="2" name="Title 1">
            <a:extLst>
              <a:ext uri="{FF2B5EF4-FFF2-40B4-BE49-F238E27FC236}">
                <a16:creationId xmlns:a16="http://schemas.microsoft.com/office/drawing/2014/main" id="{3B1A39EA-C54E-4FB9-5338-5344FA0C7388}"/>
              </a:ext>
            </a:extLst>
          </p:cNvPr>
          <p:cNvSpPr>
            <a:spLocks noGrp="1"/>
          </p:cNvSpPr>
          <p:nvPr>
            <p:ph type="title"/>
          </p:nvPr>
        </p:nvSpPr>
        <p:spPr/>
        <p:txBody>
          <a:bodyPr/>
          <a:lstStyle/>
          <a:p>
            <a:r>
              <a:rPr lang="en-IN" dirty="0"/>
              <a:t>Data Pipeline Architecture</a:t>
            </a:r>
          </a:p>
        </p:txBody>
      </p:sp>
      <p:sp>
        <p:nvSpPr>
          <p:cNvPr id="21" name="Content Placeholder 20">
            <a:extLst>
              <a:ext uri="{FF2B5EF4-FFF2-40B4-BE49-F238E27FC236}">
                <a16:creationId xmlns:a16="http://schemas.microsoft.com/office/drawing/2014/main" id="{1EAC691B-FA1F-FFBC-E021-7AE2717ED183}"/>
              </a:ext>
            </a:extLst>
          </p:cNvPr>
          <p:cNvSpPr>
            <a:spLocks noGrp="1"/>
          </p:cNvSpPr>
          <p:nvPr>
            <p:ph idx="1"/>
          </p:nvPr>
        </p:nvSpPr>
        <p:spPr>
          <a:xfrm>
            <a:off x="571781" y="3064550"/>
            <a:ext cx="8287557" cy="2023282"/>
          </a:xfrm>
        </p:spPr>
        <p:txBody>
          <a:bodyPr>
            <a:noAutofit/>
          </a:bodyPr>
          <a:lstStyle/>
          <a:p>
            <a:r>
              <a:rPr lang="en-IN" sz="1200" dirty="0"/>
              <a:t>CSV Dataset</a:t>
            </a:r>
          </a:p>
          <a:p>
            <a:r>
              <a:rPr lang="en-IN" sz="1200" dirty="0"/>
              <a:t>Data Ingestion (Python)</a:t>
            </a:r>
          </a:p>
          <a:p>
            <a:r>
              <a:rPr lang="en-IN" sz="1200" dirty="0"/>
              <a:t>Data Cleaning &amp; Validation and downloaded the new csv file </a:t>
            </a:r>
          </a:p>
          <a:p>
            <a:r>
              <a:rPr lang="en-IN" sz="1200" dirty="0"/>
              <a:t>Azure SQL Database for Data storing </a:t>
            </a:r>
          </a:p>
          <a:p>
            <a:r>
              <a:rPr lang="en-IN" sz="1200" dirty="0"/>
              <a:t>Processed Dataset and connection to Power BI from Azure SQL</a:t>
            </a:r>
          </a:p>
          <a:p>
            <a:r>
              <a:rPr lang="en-IN" sz="1200" dirty="0"/>
              <a:t>Power BI Dashboard</a:t>
            </a:r>
          </a:p>
        </p:txBody>
      </p:sp>
      <p:pic>
        <p:nvPicPr>
          <p:cNvPr id="8" name="Picture 7">
            <a:extLst>
              <a:ext uri="{FF2B5EF4-FFF2-40B4-BE49-F238E27FC236}">
                <a16:creationId xmlns:a16="http://schemas.microsoft.com/office/drawing/2014/main" id="{14E30916-494B-8AB7-37E8-33466EA4D5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85827" y="2037287"/>
            <a:ext cx="664191" cy="497502"/>
          </a:xfrm>
          <a:prstGeom prst="rect">
            <a:avLst/>
          </a:prstGeom>
        </p:spPr>
      </p:pic>
      <p:cxnSp>
        <p:nvCxnSpPr>
          <p:cNvPr id="10" name="Straight Arrow Connector 9">
            <a:extLst>
              <a:ext uri="{FF2B5EF4-FFF2-40B4-BE49-F238E27FC236}">
                <a16:creationId xmlns:a16="http://schemas.microsoft.com/office/drawing/2014/main" id="{DA5F3F37-75D3-B8AF-11FE-5AC7BF94C855}"/>
              </a:ext>
            </a:extLst>
          </p:cNvPr>
          <p:cNvCxnSpPr/>
          <p:nvPr/>
        </p:nvCxnSpPr>
        <p:spPr>
          <a:xfrm>
            <a:off x="1333491" y="2295275"/>
            <a:ext cx="70701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2" name="Picture 11">
            <a:extLst>
              <a:ext uri="{FF2B5EF4-FFF2-40B4-BE49-F238E27FC236}">
                <a16:creationId xmlns:a16="http://schemas.microsoft.com/office/drawing/2014/main" id="{BCE450BE-3C3D-94D4-6597-5067130427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1781" y="2048881"/>
            <a:ext cx="509097" cy="509097"/>
          </a:xfrm>
          <a:prstGeom prst="rect">
            <a:avLst/>
          </a:prstGeom>
        </p:spPr>
      </p:pic>
      <p:pic>
        <p:nvPicPr>
          <p:cNvPr id="13" name="Picture 12">
            <a:extLst>
              <a:ext uri="{FF2B5EF4-FFF2-40B4-BE49-F238E27FC236}">
                <a16:creationId xmlns:a16="http://schemas.microsoft.com/office/drawing/2014/main" id="{DA4569D0-7AC1-C2C2-BE4E-E1A6B6C816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42580" y="2040727"/>
            <a:ext cx="509097" cy="509097"/>
          </a:xfrm>
          <a:prstGeom prst="rect">
            <a:avLst/>
          </a:prstGeom>
        </p:spPr>
      </p:pic>
      <p:cxnSp>
        <p:nvCxnSpPr>
          <p:cNvPr id="14" name="Straight Arrow Connector 13">
            <a:extLst>
              <a:ext uri="{FF2B5EF4-FFF2-40B4-BE49-F238E27FC236}">
                <a16:creationId xmlns:a16="http://schemas.microsoft.com/office/drawing/2014/main" id="{1DB84CBE-751B-B4FB-ED37-DC77F7443957}"/>
              </a:ext>
            </a:extLst>
          </p:cNvPr>
          <p:cNvCxnSpPr/>
          <p:nvPr/>
        </p:nvCxnSpPr>
        <p:spPr>
          <a:xfrm>
            <a:off x="3294266" y="2303430"/>
            <a:ext cx="70701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5059DA27-A318-93DE-C5E6-69D3BFF8EAEA}"/>
              </a:ext>
            </a:extLst>
          </p:cNvPr>
          <p:cNvCxnSpPr/>
          <p:nvPr/>
        </p:nvCxnSpPr>
        <p:spPr>
          <a:xfrm>
            <a:off x="7484005" y="2291835"/>
            <a:ext cx="70701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7" name="Picture 16">
            <a:extLst>
              <a:ext uri="{FF2B5EF4-FFF2-40B4-BE49-F238E27FC236}">
                <a16:creationId xmlns:a16="http://schemas.microsoft.com/office/drawing/2014/main" id="{B141ABDF-F9DC-36F6-8B7A-DD5B7C92D5C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91015" y="1939911"/>
            <a:ext cx="1082987" cy="606473"/>
          </a:xfrm>
          <a:prstGeom prst="rect">
            <a:avLst/>
          </a:prstGeom>
        </p:spPr>
      </p:pic>
      <p:pic>
        <p:nvPicPr>
          <p:cNvPr id="19" name="Picture 18">
            <a:extLst>
              <a:ext uri="{FF2B5EF4-FFF2-40B4-BE49-F238E27FC236}">
                <a16:creationId xmlns:a16="http://schemas.microsoft.com/office/drawing/2014/main" id="{E02CB415-96E4-1716-C134-8647C85275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93255" y="1743750"/>
            <a:ext cx="1096170" cy="1096170"/>
          </a:xfrm>
          <a:prstGeom prst="rect">
            <a:avLst/>
          </a:prstGeom>
        </p:spPr>
      </p:pic>
      <p:cxnSp>
        <p:nvCxnSpPr>
          <p:cNvPr id="20" name="Straight Arrow Connector 19">
            <a:extLst>
              <a:ext uri="{FF2B5EF4-FFF2-40B4-BE49-F238E27FC236}">
                <a16:creationId xmlns:a16="http://schemas.microsoft.com/office/drawing/2014/main" id="{26F63C78-DF8F-B6CA-EBEC-B1E7B3F16907}"/>
              </a:ext>
            </a:extLst>
          </p:cNvPr>
          <p:cNvCxnSpPr/>
          <p:nvPr/>
        </p:nvCxnSpPr>
        <p:spPr>
          <a:xfrm>
            <a:off x="5241997" y="2303430"/>
            <a:ext cx="70701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92803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42181-9862-F482-AE2F-FB6079AE521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AB04D8C-CAB1-9790-6900-A3EF67AAFE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877" y="106100"/>
            <a:ext cx="1164222" cy="233265"/>
          </a:xfrm>
          <a:prstGeom prst="rect">
            <a:avLst/>
          </a:prstGeom>
        </p:spPr>
      </p:pic>
      <p:sp>
        <p:nvSpPr>
          <p:cNvPr id="2" name="Title 1">
            <a:extLst>
              <a:ext uri="{FF2B5EF4-FFF2-40B4-BE49-F238E27FC236}">
                <a16:creationId xmlns:a16="http://schemas.microsoft.com/office/drawing/2014/main" id="{0671FA4B-26A8-71D9-B56F-001F999E6078}"/>
              </a:ext>
            </a:extLst>
          </p:cNvPr>
          <p:cNvSpPr>
            <a:spLocks noGrp="1"/>
          </p:cNvSpPr>
          <p:nvPr>
            <p:ph type="title"/>
          </p:nvPr>
        </p:nvSpPr>
        <p:spPr>
          <a:xfrm>
            <a:off x="664988" y="1269476"/>
            <a:ext cx="8596668" cy="681872"/>
          </a:xfrm>
        </p:spPr>
        <p:txBody>
          <a:bodyPr>
            <a:normAutofit/>
          </a:bodyPr>
          <a:lstStyle/>
          <a:p>
            <a:r>
              <a:rPr lang="en-IN" sz="2800" dirty="0"/>
              <a:t>Implementing Different Approach and Learning</a:t>
            </a:r>
          </a:p>
        </p:txBody>
      </p:sp>
      <p:sp>
        <p:nvSpPr>
          <p:cNvPr id="3" name="Content Placeholder 2">
            <a:extLst>
              <a:ext uri="{FF2B5EF4-FFF2-40B4-BE49-F238E27FC236}">
                <a16:creationId xmlns:a16="http://schemas.microsoft.com/office/drawing/2014/main" id="{82C6F757-048A-B72D-0080-DF770A7E0A99}"/>
              </a:ext>
            </a:extLst>
          </p:cNvPr>
          <p:cNvSpPr>
            <a:spLocks noGrp="1"/>
          </p:cNvSpPr>
          <p:nvPr>
            <p:ph idx="1"/>
          </p:nvPr>
        </p:nvSpPr>
        <p:spPr>
          <a:xfrm>
            <a:off x="561069" y="2339698"/>
            <a:ext cx="9299367" cy="3880773"/>
          </a:xfrm>
        </p:spPr>
        <p:txBody>
          <a:bodyPr>
            <a:normAutofit/>
          </a:bodyPr>
          <a:lstStyle/>
          <a:p>
            <a:r>
              <a:rPr lang="en-US" dirty="0"/>
              <a:t>• While practicing database-based pipelines, I also worked with PostgreSQL using a Neon cloud database connected through </a:t>
            </a:r>
            <a:r>
              <a:rPr lang="en-US" dirty="0" err="1"/>
              <a:t>DBeaver</a:t>
            </a:r>
            <a:r>
              <a:rPr lang="en-US" dirty="0"/>
              <a:t>. In that setup, SQL queries were used to process the data before connecting it to Power BI for visualization</a:t>
            </a:r>
          </a:p>
          <a:p>
            <a:r>
              <a:rPr lang="en-US" dirty="0"/>
              <a:t>• For this project, I focused on building the data pipeline using Python to load, clean, and process the server log dataset. The processed data was then used to create the Power BI dashboard for monitoring server performance</a:t>
            </a:r>
          </a:p>
          <a:p>
            <a:r>
              <a:rPr lang="en-US" dirty="0"/>
              <a:t>• I am currently learning Azure and exploring how similar data pipelines can be implemented using Azure services such as Azure Data Lake and Azure SQL Database</a:t>
            </a:r>
          </a:p>
          <a:p>
            <a:r>
              <a:rPr lang="en-US" dirty="0"/>
              <a:t>• This project helped me understand how data can move from raw logs to meaningful insights through a structured data pipeline and dashboard</a:t>
            </a:r>
          </a:p>
          <a:p>
            <a:endParaRPr lang="en-IN" dirty="0"/>
          </a:p>
        </p:txBody>
      </p:sp>
    </p:spTree>
    <p:extLst>
      <p:ext uri="{BB962C8B-B14F-4D97-AF65-F5344CB8AC3E}">
        <p14:creationId xmlns:p14="http://schemas.microsoft.com/office/powerpoint/2010/main" val="3628887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5E166-524D-21F3-38E9-8BB38BF1FA8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5E6E010-620C-CC73-3F71-4420488D4C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877" y="106100"/>
            <a:ext cx="1164222" cy="233265"/>
          </a:xfrm>
          <a:prstGeom prst="rect">
            <a:avLst/>
          </a:prstGeom>
        </p:spPr>
      </p:pic>
      <p:sp>
        <p:nvSpPr>
          <p:cNvPr id="2" name="Title 1">
            <a:extLst>
              <a:ext uri="{FF2B5EF4-FFF2-40B4-BE49-F238E27FC236}">
                <a16:creationId xmlns:a16="http://schemas.microsoft.com/office/drawing/2014/main" id="{F76538B5-E79F-8061-5288-5780755D35C7}"/>
              </a:ext>
            </a:extLst>
          </p:cNvPr>
          <p:cNvSpPr>
            <a:spLocks noGrp="1"/>
          </p:cNvSpPr>
          <p:nvPr>
            <p:ph type="title"/>
          </p:nvPr>
        </p:nvSpPr>
        <p:spPr>
          <a:xfrm>
            <a:off x="664988" y="1269476"/>
            <a:ext cx="8596668" cy="681872"/>
          </a:xfrm>
        </p:spPr>
        <p:txBody>
          <a:bodyPr/>
          <a:lstStyle/>
          <a:p>
            <a:r>
              <a:rPr lang="en-IN" dirty="0"/>
              <a:t>Data Transformation</a:t>
            </a:r>
          </a:p>
        </p:txBody>
      </p:sp>
      <p:sp>
        <p:nvSpPr>
          <p:cNvPr id="3" name="Content Placeholder 2">
            <a:extLst>
              <a:ext uri="{FF2B5EF4-FFF2-40B4-BE49-F238E27FC236}">
                <a16:creationId xmlns:a16="http://schemas.microsoft.com/office/drawing/2014/main" id="{ADFBA4BE-E59E-508E-C7A4-848014926747}"/>
              </a:ext>
            </a:extLst>
          </p:cNvPr>
          <p:cNvSpPr>
            <a:spLocks noGrp="1"/>
          </p:cNvSpPr>
          <p:nvPr>
            <p:ph idx="1"/>
          </p:nvPr>
        </p:nvSpPr>
        <p:spPr>
          <a:xfrm>
            <a:off x="561070" y="2253006"/>
            <a:ext cx="8596668" cy="4232634"/>
          </a:xfrm>
        </p:spPr>
        <p:txBody>
          <a:bodyPr>
            <a:normAutofit/>
          </a:bodyPr>
          <a:lstStyle/>
          <a:p>
            <a:r>
              <a:rPr lang="en-US" dirty="0"/>
              <a:t>Data quality checks was performed to remove duplicates and validate system metrics</a:t>
            </a:r>
          </a:p>
          <a:p>
            <a:r>
              <a:rPr lang="en-US" dirty="0"/>
              <a:t>• Timestamp </a:t>
            </a:r>
            <a:r>
              <a:rPr lang="en-US" dirty="0" err="1"/>
              <a:t>coloum</a:t>
            </a:r>
            <a:r>
              <a:rPr lang="en-US" dirty="0"/>
              <a:t> were converted into proper datetime format</a:t>
            </a:r>
          </a:p>
          <a:p>
            <a:r>
              <a:rPr lang="en-US" dirty="0"/>
              <a:t>• Additional metrics were created to generate meaningful insights</a:t>
            </a:r>
          </a:p>
          <a:p>
            <a:r>
              <a:rPr lang="en-US" b="1" u="sng" dirty="0"/>
              <a:t>New metrics:</a:t>
            </a:r>
          </a:p>
          <a:p>
            <a:r>
              <a:rPr lang="en-US" dirty="0"/>
              <a:t>1) Total Network Traffic</a:t>
            </a:r>
            <a:br>
              <a:rPr lang="en-US" dirty="0"/>
            </a:br>
            <a:r>
              <a:rPr lang="en-US" dirty="0"/>
              <a:t>2) Availability Rate</a:t>
            </a:r>
            <a:br>
              <a:rPr lang="en-US" dirty="0"/>
            </a:br>
            <a:r>
              <a:rPr lang="en-US" dirty="0"/>
              <a:t>3) Server Health Score</a:t>
            </a:r>
          </a:p>
          <a:p>
            <a:r>
              <a:rPr lang="en-US" dirty="0"/>
              <a:t>• Total Network Traffic measures overall data transfer activity</a:t>
            </a:r>
          </a:p>
          <a:p>
            <a:r>
              <a:rPr lang="en-US" dirty="0"/>
              <a:t>• Availability Rate measures system reliability</a:t>
            </a:r>
          </a:p>
          <a:p>
            <a:r>
              <a:rPr lang="en-US" dirty="0"/>
              <a:t>• Server Health Score summarizes overall system condition</a:t>
            </a:r>
          </a:p>
          <a:p>
            <a:endParaRPr lang="en-US" dirty="0"/>
          </a:p>
          <a:p>
            <a:endParaRPr lang="en-IN" dirty="0"/>
          </a:p>
        </p:txBody>
      </p:sp>
    </p:spTree>
    <p:extLst>
      <p:ext uri="{BB962C8B-B14F-4D97-AF65-F5344CB8AC3E}">
        <p14:creationId xmlns:p14="http://schemas.microsoft.com/office/powerpoint/2010/main" val="38419499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D9239-DBFA-2C16-4A5E-07B816D7138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125469A-570B-B7F6-0882-AC4C5BFF0D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877" y="106100"/>
            <a:ext cx="1164222" cy="233265"/>
          </a:xfrm>
          <a:prstGeom prst="rect">
            <a:avLst/>
          </a:prstGeom>
        </p:spPr>
      </p:pic>
      <p:sp>
        <p:nvSpPr>
          <p:cNvPr id="2" name="Title 1">
            <a:extLst>
              <a:ext uri="{FF2B5EF4-FFF2-40B4-BE49-F238E27FC236}">
                <a16:creationId xmlns:a16="http://schemas.microsoft.com/office/drawing/2014/main" id="{9A3EC7D4-6436-BCF0-ABB3-6544A95F72FC}"/>
              </a:ext>
            </a:extLst>
          </p:cNvPr>
          <p:cNvSpPr>
            <a:spLocks noGrp="1"/>
          </p:cNvSpPr>
          <p:nvPr>
            <p:ph type="title"/>
          </p:nvPr>
        </p:nvSpPr>
        <p:spPr>
          <a:xfrm>
            <a:off x="664988" y="1269476"/>
            <a:ext cx="8596668" cy="681872"/>
          </a:xfrm>
        </p:spPr>
        <p:txBody>
          <a:bodyPr/>
          <a:lstStyle/>
          <a:p>
            <a:r>
              <a:rPr lang="en-IN" dirty="0"/>
              <a:t>Server Monitoring Power BI Dashboard</a:t>
            </a:r>
          </a:p>
        </p:txBody>
      </p:sp>
      <p:sp>
        <p:nvSpPr>
          <p:cNvPr id="3" name="Content Placeholder 2">
            <a:extLst>
              <a:ext uri="{FF2B5EF4-FFF2-40B4-BE49-F238E27FC236}">
                <a16:creationId xmlns:a16="http://schemas.microsoft.com/office/drawing/2014/main" id="{FFE3DA5F-4123-1D83-1D3D-D9460AF2439B}"/>
              </a:ext>
            </a:extLst>
          </p:cNvPr>
          <p:cNvSpPr>
            <a:spLocks noGrp="1"/>
          </p:cNvSpPr>
          <p:nvPr>
            <p:ph idx="1"/>
          </p:nvPr>
        </p:nvSpPr>
        <p:spPr>
          <a:xfrm>
            <a:off x="561070" y="2253006"/>
            <a:ext cx="8596668" cy="3252248"/>
          </a:xfrm>
        </p:spPr>
        <p:txBody>
          <a:bodyPr>
            <a:normAutofit/>
          </a:bodyPr>
          <a:lstStyle/>
          <a:p>
            <a:r>
              <a:rPr lang="en-US" dirty="0"/>
              <a:t>• CPU utilization monitoring</a:t>
            </a:r>
          </a:p>
          <a:p>
            <a:r>
              <a:rPr lang="en-US" dirty="0"/>
              <a:t>• Memory usage analysis</a:t>
            </a:r>
          </a:p>
          <a:p>
            <a:r>
              <a:rPr lang="en-US" dirty="0"/>
              <a:t>• Network traffic monitoring</a:t>
            </a:r>
          </a:p>
          <a:p>
            <a:r>
              <a:rPr lang="en-US" dirty="0"/>
              <a:t>• KPI indicators for system health</a:t>
            </a:r>
          </a:p>
          <a:p>
            <a:r>
              <a:rPr lang="en-US" dirty="0"/>
              <a:t>• slicer for server location, OS type, and hostname</a:t>
            </a:r>
          </a:p>
          <a:p>
            <a:endParaRPr lang="en-IN" dirty="0"/>
          </a:p>
        </p:txBody>
      </p:sp>
    </p:spTree>
    <p:extLst>
      <p:ext uri="{BB962C8B-B14F-4D97-AF65-F5344CB8AC3E}">
        <p14:creationId xmlns:p14="http://schemas.microsoft.com/office/powerpoint/2010/main" val="27069159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CA2DB-82E3-62C3-D1DB-3D627801AF0F}"/>
              </a:ext>
            </a:extLst>
          </p:cNvPr>
          <p:cNvSpPr>
            <a:spLocks noGrp="1"/>
          </p:cNvSpPr>
          <p:nvPr>
            <p:ph type="ctrTitle"/>
          </p:nvPr>
        </p:nvSpPr>
        <p:spPr>
          <a:xfrm>
            <a:off x="790629" y="1857779"/>
            <a:ext cx="8211968" cy="1733833"/>
          </a:xfrm>
        </p:spPr>
        <p:txBody>
          <a:bodyPr/>
          <a:lstStyle/>
          <a:p>
            <a:r>
              <a:rPr lang="en-IN" dirty="0"/>
              <a:t>Thank You “NEOSTATS”</a:t>
            </a:r>
          </a:p>
        </p:txBody>
      </p:sp>
    </p:spTree>
    <p:extLst>
      <p:ext uri="{BB962C8B-B14F-4D97-AF65-F5344CB8AC3E}">
        <p14:creationId xmlns:p14="http://schemas.microsoft.com/office/powerpoint/2010/main" val="31346389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58</TotalTime>
  <Words>399</Words>
  <Application>Microsoft Office PowerPoint</Application>
  <PresentationFormat>Widescreen</PresentationFormat>
  <Paragraphs>47</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Trebuchet MS</vt:lpstr>
      <vt:lpstr>Wingdings 3</vt:lpstr>
      <vt:lpstr>Facet</vt:lpstr>
      <vt:lpstr>Virtual Server Monitoring and Performance Optimization</vt:lpstr>
      <vt:lpstr>Problem Statement </vt:lpstr>
      <vt:lpstr>Dataset Overview</vt:lpstr>
      <vt:lpstr>Data Pipeline Architecture</vt:lpstr>
      <vt:lpstr>Implementing Different Approach and Learning</vt:lpstr>
      <vt:lpstr>Data Transformation</vt:lpstr>
      <vt:lpstr>Server Monitoring Power BI Dashboard</vt:lpstr>
      <vt:lpstr>Thank You “NEOSTATS”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Shiva Sagar</dc:creator>
  <cp:lastModifiedBy>Shiva Sagar</cp:lastModifiedBy>
  <cp:revision>1</cp:revision>
  <dcterms:created xsi:type="dcterms:W3CDTF">2026-03-13T18:56:12Z</dcterms:created>
  <dcterms:modified xsi:type="dcterms:W3CDTF">2026-03-13T19:54:19Z</dcterms:modified>
</cp:coreProperties>
</file>