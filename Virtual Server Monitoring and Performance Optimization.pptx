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media/image7.jpg" ContentType="image/png"/>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7" r:id="rId6"/>
    <p:sldId id="264" r:id="rId7"/>
    <p:sldId id="265" r:id="rId8"/>
    <p:sldId id="266" r:id="rId9"/>
    <p:sldId id="268" r:id="rId10"/>
    <p:sldId id="269" r:id="rId11"/>
    <p:sldId id="270" r:id="rId12"/>
    <p:sldId id="263" r:id="rId13"/>
    <p:sldId id="260" r:id="rId14"/>
    <p:sldId id="261" r:id="rId15"/>
    <p:sldId id="262"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616" y="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41429A4-63E6-41C5-A454-0029B55B8A88}" type="datetimeFigureOut">
              <a:rPr lang="en-IN" smtClean="0"/>
              <a:t>16-03-2026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FBC0E6D-F85F-4334-9727-FB0021CF196A}" type="slidenum">
              <a:rPr lang="en-IN" smtClean="0"/>
              <a:t>‹#›</a:t>
            </a:fld>
            <a:endParaRPr lang="en-IN"/>
          </a:p>
        </p:txBody>
      </p:sp>
    </p:spTree>
    <p:extLst>
      <p:ext uri="{BB962C8B-B14F-4D97-AF65-F5344CB8AC3E}">
        <p14:creationId xmlns:p14="http://schemas.microsoft.com/office/powerpoint/2010/main" val="25745099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41429A4-63E6-41C5-A454-0029B55B8A88}" type="datetimeFigureOut">
              <a:rPr lang="en-IN" smtClean="0"/>
              <a:t>16-03-2026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FBC0E6D-F85F-4334-9727-FB0021CF196A}" type="slidenum">
              <a:rPr lang="en-IN" smtClean="0"/>
              <a:t>‹#›</a:t>
            </a:fld>
            <a:endParaRPr lang="en-IN"/>
          </a:p>
        </p:txBody>
      </p:sp>
    </p:spTree>
    <p:extLst>
      <p:ext uri="{BB962C8B-B14F-4D97-AF65-F5344CB8AC3E}">
        <p14:creationId xmlns:p14="http://schemas.microsoft.com/office/powerpoint/2010/main" val="22294744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41429A4-63E6-41C5-A454-0029B55B8A88}" type="datetimeFigureOut">
              <a:rPr lang="en-IN" smtClean="0"/>
              <a:t>16-03-2026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FBC0E6D-F85F-4334-9727-FB0021CF196A}" type="slidenum">
              <a:rPr lang="en-IN" smtClean="0"/>
              <a:t>‹#›</a:t>
            </a:fld>
            <a:endParaRPr lang="en-IN"/>
          </a:p>
        </p:txBody>
      </p:sp>
    </p:spTree>
    <p:extLst>
      <p:ext uri="{BB962C8B-B14F-4D97-AF65-F5344CB8AC3E}">
        <p14:creationId xmlns:p14="http://schemas.microsoft.com/office/powerpoint/2010/main" val="12252995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41429A4-63E6-41C5-A454-0029B55B8A88}" type="datetimeFigureOut">
              <a:rPr lang="en-IN" smtClean="0"/>
              <a:t>16-03-2026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0FBC0E6D-F85F-4334-9727-FB0021CF196A}" type="slidenum">
              <a:rPr lang="en-IN" smtClean="0"/>
              <a:t>‹#›</a:t>
            </a:fld>
            <a:endParaRPr lang="en-IN"/>
          </a:p>
        </p:txBody>
      </p:sp>
    </p:spTree>
    <p:extLst>
      <p:ext uri="{BB962C8B-B14F-4D97-AF65-F5344CB8AC3E}">
        <p14:creationId xmlns:p14="http://schemas.microsoft.com/office/powerpoint/2010/main" val="3747673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41429A4-63E6-41C5-A454-0029B55B8A88}" type="datetimeFigureOut">
              <a:rPr lang="en-IN" smtClean="0"/>
              <a:t>16-03-2026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0FBC0E6D-F85F-4334-9727-FB0021CF196A}" type="slidenum">
              <a:rPr lang="en-IN" smtClean="0"/>
              <a:t>‹#›</a:t>
            </a:fld>
            <a:endParaRPr lang="en-IN"/>
          </a:p>
        </p:txBody>
      </p:sp>
    </p:spTree>
    <p:extLst>
      <p:ext uri="{BB962C8B-B14F-4D97-AF65-F5344CB8AC3E}">
        <p14:creationId xmlns:p14="http://schemas.microsoft.com/office/powerpoint/2010/main" val="7582513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41429A4-63E6-41C5-A454-0029B55B8A88}" type="datetimeFigureOut">
              <a:rPr lang="en-IN" smtClean="0"/>
              <a:t>16-03-2026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0FBC0E6D-F85F-4334-9727-FB0021CF196A}" type="slidenum">
              <a:rPr lang="en-IN" smtClean="0"/>
              <a:t>‹#›</a:t>
            </a:fld>
            <a:endParaRPr lang="en-IN"/>
          </a:p>
        </p:txBody>
      </p:sp>
    </p:spTree>
    <p:extLst>
      <p:ext uri="{BB962C8B-B14F-4D97-AF65-F5344CB8AC3E}">
        <p14:creationId xmlns:p14="http://schemas.microsoft.com/office/powerpoint/2010/main" val="34050813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41429A4-63E6-41C5-A454-0029B55B8A88}" type="datetimeFigureOut">
              <a:rPr lang="en-IN" smtClean="0"/>
              <a:t>16-03-2026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0FBC0E6D-F85F-4334-9727-FB0021CF196A}" type="slidenum">
              <a:rPr lang="en-IN" smtClean="0"/>
              <a:t>‹#›</a:t>
            </a:fld>
            <a:endParaRPr lang="en-IN"/>
          </a:p>
        </p:txBody>
      </p:sp>
    </p:spTree>
    <p:extLst>
      <p:ext uri="{BB962C8B-B14F-4D97-AF65-F5344CB8AC3E}">
        <p14:creationId xmlns:p14="http://schemas.microsoft.com/office/powerpoint/2010/main" val="3691680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41429A4-63E6-41C5-A454-0029B55B8A88}" type="datetimeFigureOut">
              <a:rPr lang="en-IN" smtClean="0"/>
              <a:t>16-03-2026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0FBC0E6D-F85F-4334-9727-FB0021CF196A}" type="slidenum">
              <a:rPr lang="en-IN" smtClean="0"/>
              <a:t>‹#›</a:t>
            </a:fld>
            <a:endParaRPr lang="en-IN"/>
          </a:p>
        </p:txBody>
      </p:sp>
    </p:spTree>
    <p:extLst>
      <p:ext uri="{BB962C8B-B14F-4D97-AF65-F5344CB8AC3E}">
        <p14:creationId xmlns:p14="http://schemas.microsoft.com/office/powerpoint/2010/main" val="32790114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41429A4-63E6-41C5-A454-0029B55B8A88}" type="datetimeFigureOut">
              <a:rPr lang="en-IN" smtClean="0"/>
              <a:t>16-03-2026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0FBC0E6D-F85F-4334-9727-FB0021CF196A}" type="slidenum">
              <a:rPr lang="en-IN" smtClean="0"/>
              <a:t>‹#›</a:t>
            </a:fld>
            <a:endParaRPr lang="en-IN"/>
          </a:p>
        </p:txBody>
      </p:sp>
    </p:spTree>
    <p:extLst>
      <p:ext uri="{BB962C8B-B14F-4D97-AF65-F5344CB8AC3E}">
        <p14:creationId xmlns:p14="http://schemas.microsoft.com/office/powerpoint/2010/main" val="73419638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41429A4-63E6-41C5-A454-0029B55B8A88}" type="datetimeFigureOut">
              <a:rPr lang="en-IN" smtClean="0"/>
              <a:t>16-03-2026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FBC0E6D-F85F-4334-9727-FB0021CF196A}" type="slidenum">
              <a:rPr lang="en-IN" smtClean="0"/>
              <a:t>‹#›</a:t>
            </a:fld>
            <a:endParaRPr lang="en-IN"/>
          </a:p>
        </p:txBody>
      </p:sp>
    </p:spTree>
    <p:extLst>
      <p:ext uri="{BB962C8B-B14F-4D97-AF65-F5344CB8AC3E}">
        <p14:creationId xmlns:p14="http://schemas.microsoft.com/office/powerpoint/2010/main" val="1029534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41429A4-63E6-41C5-A454-0029B55B8A88}" type="datetimeFigureOut">
              <a:rPr lang="en-IN" smtClean="0"/>
              <a:t>16-03-2026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FBC0E6D-F85F-4334-9727-FB0021CF196A}" type="slidenum">
              <a:rPr lang="en-IN" smtClean="0"/>
              <a:t>‹#›</a:t>
            </a:fld>
            <a:endParaRPr lang="en-IN"/>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252619089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41429A4-63E6-41C5-A454-0029B55B8A88}" type="datetimeFigureOut">
              <a:rPr lang="en-IN" smtClean="0"/>
              <a:t>16-03-2026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FBC0E6D-F85F-4334-9727-FB0021CF196A}" type="slidenum">
              <a:rPr lang="en-IN" smtClean="0"/>
              <a:t>‹#›</a:t>
            </a:fld>
            <a:endParaRPr lang="en-IN"/>
          </a:p>
        </p:txBody>
      </p:sp>
    </p:spTree>
    <p:extLst>
      <p:ext uri="{BB962C8B-B14F-4D97-AF65-F5344CB8AC3E}">
        <p14:creationId xmlns:p14="http://schemas.microsoft.com/office/powerpoint/2010/main" val="49340616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41429A4-63E6-41C5-A454-0029B55B8A88}" type="datetimeFigureOut">
              <a:rPr lang="en-IN" smtClean="0"/>
              <a:t>16-03-2026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FBC0E6D-F85F-4334-9727-FB0021CF196A}" type="slidenum">
              <a:rPr lang="en-IN" smtClean="0"/>
              <a:t>‹#›</a:t>
            </a:fld>
            <a:endParaRPr lang="en-IN"/>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6739987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41429A4-63E6-41C5-A454-0029B55B8A88}" type="datetimeFigureOut">
              <a:rPr lang="en-IN" smtClean="0"/>
              <a:t>16-03-2026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FBC0E6D-F85F-4334-9727-FB0021CF196A}" type="slidenum">
              <a:rPr lang="en-IN" smtClean="0"/>
              <a:t>‹#›</a:t>
            </a:fld>
            <a:endParaRPr lang="en-IN"/>
          </a:p>
        </p:txBody>
      </p:sp>
    </p:spTree>
    <p:extLst>
      <p:ext uri="{BB962C8B-B14F-4D97-AF65-F5344CB8AC3E}">
        <p14:creationId xmlns:p14="http://schemas.microsoft.com/office/powerpoint/2010/main" val="353145964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41429A4-63E6-41C5-A454-0029B55B8A88}" type="datetimeFigureOut">
              <a:rPr lang="en-IN" smtClean="0"/>
              <a:t>16-03-2026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FBC0E6D-F85F-4334-9727-FB0021CF196A}" type="slidenum">
              <a:rPr lang="en-IN" smtClean="0"/>
              <a:t>‹#›</a:t>
            </a:fld>
            <a:endParaRPr lang="en-IN"/>
          </a:p>
        </p:txBody>
      </p:sp>
    </p:spTree>
    <p:extLst>
      <p:ext uri="{BB962C8B-B14F-4D97-AF65-F5344CB8AC3E}">
        <p14:creationId xmlns:p14="http://schemas.microsoft.com/office/powerpoint/2010/main" val="387586047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41429A4-63E6-41C5-A454-0029B55B8A88}" type="datetimeFigureOut">
              <a:rPr lang="en-IN" smtClean="0"/>
              <a:t>16-03-2026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FBC0E6D-F85F-4334-9727-FB0021CF196A}" type="slidenum">
              <a:rPr lang="en-IN" smtClean="0"/>
              <a:t>‹#›</a:t>
            </a:fld>
            <a:endParaRPr lang="en-IN"/>
          </a:p>
        </p:txBody>
      </p:sp>
    </p:spTree>
    <p:extLst>
      <p:ext uri="{BB962C8B-B14F-4D97-AF65-F5344CB8AC3E}">
        <p14:creationId xmlns:p14="http://schemas.microsoft.com/office/powerpoint/2010/main" val="10169909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41429A4-63E6-41C5-A454-0029B55B8A88}" type="datetimeFigureOut">
              <a:rPr lang="en-IN" smtClean="0"/>
              <a:t>16-03-2026</a:t>
            </a:fld>
            <a:endParaRPr lang="en-IN"/>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0FBC0E6D-F85F-4334-9727-FB0021CF196A}" type="slidenum">
              <a:rPr lang="en-IN" smtClean="0"/>
              <a:t>‹#›</a:t>
            </a:fld>
            <a:endParaRPr lang="en-IN"/>
          </a:p>
        </p:txBody>
      </p:sp>
    </p:spTree>
    <p:extLst>
      <p:ext uri="{BB962C8B-B14F-4D97-AF65-F5344CB8AC3E}">
        <p14:creationId xmlns:p14="http://schemas.microsoft.com/office/powerpoint/2010/main" val="337058506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image" Target="../media/image3.svg"/></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1.jpg"/><Relationship Id="rId1" Type="http://schemas.openxmlformats.org/officeDocument/2006/relationships/slideLayout" Target="../slideLayouts/slideLayout2.xml"/><Relationship Id="rId6" Type="http://schemas.openxmlformats.org/officeDocument/2006/relationships/image" Target="../media/image7.jpg"/><Relationship Id="rId5" Type="http://schemas.openxmlformats.org/officeDocument/2006/relationships/image" Target="../media/image6.jp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hyperlink" Target="https://github.com/shivasagardesai/server-monitoring-data-pipeline"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shivasagardesai/server-monitoring-data-pipeline" TargetMode="Externa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34197C6-7072-E4B2-F65F-EFFE3DC48C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1925" y="2044299"/>
            <a:ext cx="9079976" cy="1819275"/>
          </a:xfrm>
          <a:prstGeom prst="rect">
            <a:avLst/>
          </a:prstGeom>
        </p:spPr>
      </p:pic>
      <p:sp>
        <p:nvSpPr>
          <p:cNvPr id="6" name="Title 5">
            <a:extLst>
              <a:ext uri="{FF2B5EF4-FFF2-40B4-BE49-F238E27FC236}">
                <a16:creationId xmlns:a16="http://schemas.microsoft.com/office/drawing/2014/main" id="{C97876F0-F1E0-A3DA-D265-61A2ABBC1110}"/>
              </a:ext>
            </a:extLst>
          </p:cNvPr>
          <p:cNvSpPr>
            <a:spLocks noGrp="1"/>
          </p:cNvSpPr>
          <p:nvPr>
            <p:ph type="ctrTitle"/>
          </p:nvPr>
        </p:nvSpPr>
        <p:spPr>
          <a:xfrm>
            <a:off x="591924" y="4025245"/>
            <a:ext cx="8580356" cy="661480"/>
          </a:xfrm>
        </p:spPr>
        <p:txBody>
          <a:bodyPr/>
          <a:lstStyle/>
          <a:p>
            <a:r>
              <a:rPr lang="en-US" sz="2400" dirty="0"/>
              <a:t>Virtual Server Monitoring and Performance Optimization</a:t>
            </a:r>
            <a:endParaRPr lang="en-IN" sz="2400" dirty="0"/>
          </a:p>
        </p:txBody>
      </p:sp>
      <p:sp>
        <p:nvSpPr>
          <p:cNvPr id="7" name="Subtitle 6">
            <a:extLst>
              <a:ext uri="{FF2B5EF4-FFF2-40B4-BE49-F238E27FC236}">
                <a16:creationId xmlns:a16="http://schemas.microsoft.com/office/drawing/2014/main" id="{42288690-776D-B2A9-70F5-2A668420FFC1}"/>
              </a:ext>
            </a:extLst>
          </p:cNvPr>
          <p:cNvSpPr>
            <a:spLocks noGrp="1"/>
          </p:cNvSpPr>
          <p:nvPr>
            <p:ph type="subTitle" idx="1"/>
          </p:nvPr>
        </p:nvSpPr>
        <p:spPr>
          <a:xfrm>
            <a:off x="4212612" y="4848396"/>
            <a:ext cx="4899965" cy="1037646"/>
          </a:xfrm>
        </p:spPr>
        <p:txBody>
          <a:bodyPr>
            <a:normAutofit/>
          </a:bodyPr>
          <a:lstStyle/>
          <a:p>
            <a:r>
              <a:rPr lang="en-IN" sz="1400" dirty="0"/>
              <a:t>Name:- </a:t>
            </a:r>
            <a:r>
              <a:rPr lang="en-IN" sz="1400" dirty="0" err="1"/>
              <a:t>Shivasagar</a:t>
            </a:r>
            <a:r>
              <a:rPr lang="en-IN" sz="1400" dirty="0"/>
              <a:t> Desai</a:t>
            </a:r>
          </a:p>
          <a:p>
            <a:r>
              <a:rPr lang="en-IN" sz="1400" dirty="0"/>
              <a:t>Date :- 13-3-2026</a:t>
            </a:r>
          </a:p>
        </p:txBody>
      </p:sp>
      <p:pic>
        <p:nvPicPr>
          <p:cNvPr id="9" name="Graphic 8" descr="Database">
            <a:extLst>
              <a:ext uri="{FF2B5EF4-FFF2-40B4-BE49-F238E27FC236}">
                <a16:creationId xmlns:a16="http://schemas.microsoft.com/office/drawing/2014/main" id="{F6457FD6-DA6D-3385-2A6E-3B48867D473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7435" y="4106079"/>
            <a:ext cx="661481" cy="661481"/>
          </a:xfrm>
          <a:prstGeom prst="rect">
            <a:avLst/>
          </a:prstGeom>
        </p:spPr>
      </p:pic>
    </p:spTree>
    <p:extLst>
      <p:ext uri="{BB962C8B-B14F-4D97-AF65-F5344CB8AC3E}">
        <p14:creationId xmlns:p14="http://schemas.microsoft.com/office/powerpoint/2010/main" val="20045815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0ADF83-1D4F-DC3F-CEDA-0A65515BFF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DBD9DB6-803E-34A3-220B-2ABA134AA7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877" y="106100"/>
            <a:ext cx="1164222" cy="233265"/>
          </a:xfrm>
          <a:prstGeom prst="rect">
            <a:avLst/>
          </a:prstGeom>
        </p:spPr>
      </p:pic>
      <p:sp>
        <p:nvSpPr>
          <p:cNvPr id="2" name="Title 1">
            <a:extLst>
              <a:ext uri="{FF2B5EF4-FFF2-40B4-BE49-F238E27FC236}">
                <a16:creationId xmlns:a16="http://schemas.microsoft.com/office/drawing/2014/main" id="{0E813A95-00D6-8264-FF2C-4305C5300921}"/>
              </a:ext>
            </a:extLst>
          </p:cNvPr>
          <p:cNvSpPr>
            <a:spLocks noGrp="1"/>
          </p:cNvSpPr>
          <p:nvPr>
            <p:ph type="title"/>
          </p:nvPr>
        </p:nvSpPr>
        <p:spPr>
          <a:xfrm>
            <a:off x="664988" y="1269476"/>
            <a:ext cx="8596668" cy="681872"/>
          </a:xfrm>
        </p:spPr>
        <p:txBody>
          <a:bodyPr/>
          <a:lstStyle/>
          <a:p>
            <a:r>
              <a:rPr lang="en-IN" dirty="0"/>
              <a:t>Problem Statement </a:t>
            </a:r>
          </a:p>
        </p:txBody>
      </p:sp>
      <p:sp>
        <p:nvSpPr>
          <p:cNvPr id="3" name="Content Placeholder 2">
            <a:extLst>
              <a:ext uri="{FF2B5EF4-FFF2-40B4-BE49-F238E27FC236}">
                <a16:creationId xmlns:a16="http://schemas.microsoft.com/office/drawing/2014/main" id="{FA20D692-266B-2F25-B85C-BBCA3D6072B0}"/>
              </a:ext>
            </a:extLst>
          </p:cNvPr>
          <p:cNvSpPr>
            <a:spLocks noGrp="1"/>
          </p:cNvSpPr>
          <p:nvPr>
            <p:ph idx="1"/>
          </p:nvPr>
        </p:nvSpPr>
        <p:spPr>
          <a:xfrm>
            <a:off x="561070" y="2339698"/>
            <a:ext cx="8596668" cy="3880773"/>
          </a:xfrm>
        </p:spPr>
        <p:txBody>
          <a:bodyPr/>
          <a:lstStyle/>
          <a:p>
            <a:r>
              <a:rPr lang="en-US" dirty="0"/>
              <a:t>•The company operates multiple virtual servers hosting critical applications</a:t>
            </a:r>
          </a:p>
          <a:p>
            <a:r>
              <a:rPr lang="en-US" dirty="0"/>
              <a:t>• Monitoring server performance manually is difficult to Handel to them</a:t>
            </a:r>
          </a:p>
          <a:p>
            <a:r>
              <a:rPr lang="en-US" dirty="0"/>
              <a:t>• High CPU or memory usage can lead to performance issues</a:t>
            </a:r>
          </a:p>
          <a:p>
            <a:r>
              <a:rPr lang="en-US" dirty="0"/>
              <a:t>• A monitoring system is required to analyze server health and resource usage</a:t>
            </a:r>
            <a:endParaRPr lang="en-IN" dirty="0"/>
          </a:p>
        </p:txBody>
      </p:sp>
    </p:spTree>
    <p:extLst>
      <p:ext uri="{BB962C8B-B14F-4D97-AF65-F5344CB8AC3E}">
        <p14:creationId xmlns:p14="http://schemas.microsoft.com/office/powerpoint/2010/main" val="12714359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330460-0FC1-0B9D-9077-29B13DEEF987}"/>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9C2C25F-C021-9CC8-454A-99CC4D7421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877" y="106100"/>
            <a:ext cx="1164222" cy="233265"/>
          </a:xfrm>
          <a:prstGeom prst="rect">
            <a:avLst/>
          </a:prstGeom>
        </p:spPr>
      </p:pic>
      <p:sp>
        <p:nvSpPr>
          <p:cNvPr id="2" name="Title 1">
            <a:extLst>
              <a:ext uri="{FF2B5EF4-FFF2-40B4-BE49-F238E27FC236}">
                <a16:creationId xmlns:a16="http://schemas.microsoft.com/office/drawing/2014/main" id="{94B92EE4-AFFB-4CA3-1E1A-99517C1949C2}"/>
              </a:ext>
            </a:extLst>
          </p:cNvPr>
          <p:cNvSpPr>
            <a:spLocks noGrp="1"/>
          </p:cNvSpPr>
          <p:nvPr>
            <p:ph type="title"/>
          </p:nvPr>
        </p:nvSpPr>
        <p:spPr>
          <a:xfrm>
            <a:off x="664988" y="1269476"/>
            <a:ext cx="8596668" cy="681872"/>
          </a:xfrm>
        </p:spPr>
        <p:txBody>
          <a:bodyPr/>
          <a:lstStyle/>
          <a:p>
            <a:r>
              <a:rPr lang="en-IN" dirty="0"/>
              <a:t>Dataset Overview</a:t>
            </a:r>
          </a:p>
        </p:txBody>
      </p:sp>
      <p:sp>
        <p:nvSpPr>
          <p:cNvPr id="3" name="Content Placeholder 2">
            <a:extLst>
              <a:ext uri="{FF2B5EF4-FFF2-40B4-BE49-F238E27FC236}">
                <a16:creationId xmlns:a16="http://schemas.microsoft.com/office/drawing/2014/main" id="{C5218DC6-A0C4-1955-305D-77DF2BE14C4F}"/>
              </a:ext>
            </a:extLst>
          </p:cNvPr>
          <p:cNvSpPr>
            <a:spLocks noGrp="1"/>
          </p:cNvSpPr>
          <p:nvPr>
            <p:ph idx="1"/>
          </p:nvPr>
        </p:nvSpPr>
        <p:spPr>
          <a:xfrm>
            <a:off x="561070" y="2253006"/>
            <a:ext cx="8596668" cy="4232634"/>
          </a:xfrm>
        </p:spPr>
        <p:txBody>
          <a:bodyPr>
            <a:normAutofit/>
          </a:bodyPr>
          <a:lstStyle/>
          <a:p>
            <a:r>
              <a:rPr lang="en-IN" dirty="0"/>
              <a:t>• server monitoring logs where there in Dataset</a:t>
            </a:r>
          </a:p>
          <a:p>
            <a:r>
              <a:rPr lang="en-IN" dirty="0"/>
              <a:t>• Each record represents a server performance </a:t>
            </a:r>
          </a:p>
          <a:p>
            <a:r>
              <a:rPr lang="en-IN" dirty="0"/>
              <a:t>• The dataset includes system metrics and metadata</a:t>
            </a:r>
          </a:p>
          <a:p>
            <a:r>
              <a:rPr lang="en-IN" b="1" u="sng" dirty="0"/>
              <a:t>Important columns:</a:t>
            </a:r>
          </a:p>
          <a:p>
            <a:r>
              <a:rPr lang="en-IN" dirty="0"/>
              <a:t>• CPU Utilization</a:t>
            </a:r>
          </a:p>
          <a:p>
            <a:r>
              <a:rPr lang="en-IN" dirty="0"/>
              <a:t>• Memory Usage</a:t>
            </a:r>
          </a:p>
          <a:p>
            <a:r>
              <a:rPr lang="en-IN" dirty="0"/>
              <a:t>• Disk IO</a:t>
            </a:r>
          </a:p>
          <a:p>
            <a:r>
              <a:rPr lang="en-IN" dirty="0"/>
              <a:t>• Network Traffic</a:t>
            </a:r>
          </a:p>
          <a:p>
            <a:r>
              <a:rPr lang="en-IN" dirty="0"/>
              <a:t>• Uptime and Downtime</a:t>
            </a:r>
          </a:p>
          <a:p>
            <a:r>
              <a:rPr lang="en-IN" dirty="0"/>
              <a:t>• Server Location and OS Type</a:t>
            </a:r>
          </a:p>
        </p:txBody>
      </p:sp>
    </p:spTree>
    <p:extLst>
      <p:ext uri="{BB962C8B-B14F-4D97-AF65-F5344CB8AC3E}">
        <p14:creationId xmlns:p14="http://schemas.microsoft.com/office/powerpoint/2010/main" val="36687292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EBB2F-6DA3-5F18-187D-867F74CB4BB7}"/>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7DE9D1CC-A6B6-B3AC-7D91-E70FAA1520B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877" y="106100"/>
            <a:ext cx="1164222" cy="233265"/>
          </a:xfrm>
          <a:prstGeom prst="rect">
            <a:avLst/>
          </a:prstGeom>
        </p:spPr>
      </p:pic>
      <p:sp>
        <p:nvSpPr>
          <p:cNvPr id="2" name="Title 1">
            <a:extLst>
              <a:ext uri="{FF2B5EF4-FFF2-40B4-BE49-F238E27FC236}">
                <a16:creationId xmlns:a16="http://schemas.microsoft.com/office/drawing/2014/main" id="{3B1A39EA-C54E-4FB9-5338-5344FA0C7388}"/>
              </a:ext>
            </a:extLst>
          </p:cNvPr>
          <p:cNvSpPr>
            <a:spLocks noGrp="1"/>
          </p:cNvSpPr>
          <p:nvPr>
            <p:ph type="title"/>
          </p:nvPr>
        </p:nvSpPr>
        <p:spPr/>
        <p:txBody>
          <a:bodyPr/>
          <a:lstStyle/>
          <a:p>
            <a:r>
              <a:rPr lang="en-IN" dirty="0"/>
              <a:t>Data Pipeline Architecture</a:t>
            </a:r>
          </a:p>
        </p:txBody>
      </p:sp>
      <p:sp>
        <p:nvSpPr>
          <p:cNvPr id="21" name="Content Placeholder 20">
            <a:extLst>
              <a:ext uri="{FF2B5EF4-FFF2-40B4-BE49-F238E27FC236}">
                <a16:creationId xmlns:a16="http://schemas.microsoft.com/office/drawing/2014/main" id="{1EAC691B-FA1F-FFBC-E021-7AE2717ED183}"/>
              </a:ext>
            </a:extLst>
          </p:cNvPr>
          <p:cNvSpPr>
            <a:spLocks noGrp="1"/>
          </p:cNvSpPr>
          <p:nvPr>
            <p:ph idx="1"/>
          </p:nvPr>
        </p:nvSpPr>
        <p:spPr>
          <a:xfrm>
            <a:off x="571781" y="3064550"/>
            <a:ext cx="8287557" cy="2023282"/>
          </a:xfrm>
        </p:spPr>
        <p:txBody>
          <a:bodyPr>
            <a:noAutofit/>
          </a:bodyPr>
          <a:lstStyle/>
          <a:p>
            <a:r>
              <a:rPr lang="en-IN" sz="1200" dirty="0"/>
              <a:t>CSV Dataset</a:t>
            </a:r>
          </a:p>
          <a:p>
            <a:r>
              <a:rPr lang="en-IN" sz="1200" dirty="0"/>
              <a:t>Data Ingestion (Python)</a:t>
            </a:r>
          </a:p>
          <a:p>
            <a:r>
              <a:rPr lang="en-IN" sz="1200" dirty="0"/>
              <a:t>Data Cleaning &amp; Validation and downloaded the new csv file </a:t>
            </a:r>
          </a:p>
          <a:p>
            <a:r>
              <a:rPr lang="en-IN" sz="1200" dirty="0"/>
              <a:t>Azure SQL Database for Data storing </a:t>
            </a:r>
          </a:p>
          <a:p>
            <a:r>
              <a:rPr lang="en-IN" sz="1200" dirty="0"/>
              <a:t>Processed Dataset and connection to Power BI from Azure SQL</a:t>
            </a:r>
          </a:p>
          <a:p>
            <a:r>
              <a:rPr lang="en-IN" sz="1200" dirty="0"/>
              <a:t>Power BI Dashboard</a:t>
            </a:r>
          </a:p>
        </p:txBody>
      </p:sp>
      <p:pic>
        <p:nvPicPr>
          <p:cNvPr id="8" name="Picture 7">
            <a:extLst>
              <a:ext uri="{FF2B5EF4-FFF2-40B4-BE49-F238E27FC236}">
                <a16:creationId xmlns:a16="http://schemas.microsoft.com/office/drawing/2014/main" id="{14E30916-494B-8AB7-37E8-33466EA4D5F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85827" y="2037287"/>
            <a:ext cx="664191" cy="497502"/>
          </a:xfrm>
          <a:prstGeom prst="rect">
            <a:avLst/>
          </a:prstGeom>
        </p:spPr>
      </p:pic>
      <p:cxnSp>
        <p:nvCxnSpPr>
          <p:cNvPr id="10" name="Straight Arrow Connector 9">
            <a:extLst>
              <a:ext uri="{FF2B5EF4-FFF2-40B4-BE49-F238E27FC236}">
                <a16:creationId xmlns:a16="http://schemas.microsoft.com/office/drawing/2014/main" id="{DA5F3F37-75D3-B8AF-11FE-5AC7BF94C855}"/>
              </a:ext>
            </a:extLst>
          </p:cNvPr>
          <p:cNvCxnSpPr/>
          <p:nvPr/>
        </p:nvCxnSpPr>
        <p:spPr>
          <a:xfrm>
            <a:off x="1333491" y="2295275"/>
            <a:ext cx="70701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pic>
        <p:nvPicPr>
          <p:cNvPr id="12" name="Picture 11">
            <a:extLst>
              <a:ext uri="{FF2B5EF4-FFF2-40B4-BE49-F238E27FC236}">
                <a16:creationId xmlns:a16="http://schemas.microsoft.com/office/drawing/2014/main" id="{BCE450BE-3C3D-94D4-6597-5067130427C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71781" y="2048881"/>
            <a:ext cx="509097" cy="509097"/>
          </a:xfrm>
          <a:prstGeom prst="rect">
            <a:avLst/>
          </a:prstGeom>
        </p:spPr>
      </p:pic>
      <p:pic>
        <p:nvPicPr>
          <p:cNvPr id="13" name="Picture 12">
            <a:extLst>
              <a:ext uri="{FF2B5EF4-FFF2-40B4-BE49-F238E27FC236}">
                <a16:creationId xmlns:a16="http://schemas.microsoft.com/office/drawing/2014/main" id="{DA4569D0-7AC1-C2C2-BE4E-E1A6B6C8162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42580" y="2040727"/>
            <a:ext cx="509097" cy="509097"/>
          </a:xfrm>
          <a:prstGeom prst="rect">
            <a:avLst/>
          </a:prstGeom>
        </p:spPr>
      </p:pic>
      <p:cxnSp>
        <p:nvCxnSpPr>
          <p:cNvPr id="14" name="Straight Arrow Connector 13">
            <a:extLst>
              <a:ext uri="{FF2B5EF4-FFF2-40B4-BE49-F238E27FC236}">
                <a16:creationId xmlns:a16="http://schemas.microsoft.com/office/drawing/2014/main" id="{1DB84CBE-751B-B4FB-ED37-DC77F7443957}"/>
              </a:ext>
            </a:extLst>
          </p:cNvPr>
          <p:cNvCxnSpPr/>
          <p:nvPr/>
        </p:nvCxnSpPr>
        <p:spPr>
          <a:xfrm>
            <a:off x="3294266" y="2303430"/>
            <a:ext cx="70701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a16="http://schemas.microsoft.com/office/drawing/2014/main" id="{5059DA27-A318-93DE-C5E6-69D3BFF8EAEA}"/>
              </a:ext>
            </a:extLst>
          </p:cNvPr>
          <p:cNvCxnSpPr/>
          <p:nvPr/>
        </p:nvCxnSpPr>
        <p:spPr>
          <a:xfrm>
            <a:off x="7484005" y="2291835"/>
            <a:ext cx="70701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pic>
        <p:nvPicPr>
          <p:cNvPr id="17" name="Picture 16">
            <a:extLst>
              <a:ext uri="{FF2B5EF4-FFF2-40B4-BE49-F238E27FC236}">
                <a16:creationId xmlns:a16="http://schemas.microsoft.com/office/drawing/2014/main" id="{B141ABDF-F9DC-36F6-8B7A-DD5B7C92D5C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191015" y="1939911"/>
            <a:ext cx="1082987" cy="606473"/>
          </a:xfrm>
          <a:prstGeom prst="rect">
            <a:avLst/>
          </a:prstGeom>
        </p:spPr>
      </p:pic>
      <p:pic>
        <p:nvPicPr>
          <p:cNvPr id="19" name="Picture 18">
            <a:extLst>
              <a:ext uri="{FF2B5EF4-FFF2-40B4-BE49-F238E27FC236}">
                <a16:creationId xmlns:a16="http://schemas.microsoft.com/office/drawing/2014/main" id="{E02CB415-96E4-1716-C134-8647C852752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193255" y="1743750"/>
            <a:ext cx="1096170" cy="1096170"/>
          </a:xfrm>
          <a:prstGeom prst="rect">
            <a:avLst/>
          </a:prstGeom>
        </p:spPr>
      </p:pic>
      <p:cxnSp>
        <p:nvCxnSpPr>
          <p:cNvPr id="20" name="Straight Arrow Connector 19">
            <a:extLst>
              <a:ext uri="{FF2B5EF4-FFF2-40B4-BE49-F238E27FC236}">
                <a16:creationId xmlns:a16="http://schemas.microsoft.com/office/drawing/2014/main" id="{26F63C78-DF8F-B6CA-EBEC-B1E7B3F16907}"/>
              </a:ext>
            </a:extLst>
          </p:cNvPr>
          <p:cNvCxnSpPr/>
          <p:nvPr/>
        </p:nvCxnSpPr>
        <p:spPr>
          <a:xfrm>
            <a:off x="5241997" y="2303430"/>
            <a:ext cx="70701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5928037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27A24F-4AA2-0560-057C-E20F839B5885}"/>
              </a:ext>
            </a:extLst>
          </p:cNvPr>
          <p:cNvSpPr>
            <a:spLocks noGrp="1"/>
          </p:cNvSpPr>
          <p:nvPr>
            <p:ph type="title"/>
          </p:nvPr>
        </p:nvSpPr>
        <p:spPr/>
        <p:txBody>
          <a:bodyPr/>
          <a:lstStyle/>
          <a:p>
            <a:r>
              <a:rPr lang="en-IN" dirty="0"/>
              <a:t>Data Pipeline Implementation (Python)</a:t>
            </a:r>
          </a:p>
        </p:txBody>
      </p:sp>
      <p:sp>
        <p:nvSpPr>
          <p:cNvPr id="3" name="Content Placeholder 2">
            <a:extLst>
              <a:ext uri="{FF2B5EF4-FFF2-40B4-BE49-F238E27FC236}">
                <a16:creationId xmlns:a16="http://schemas.microsoft.com/office/drawing/2014/main" id="{567E001A-2123-FF48-F1B5-CAD7245FC434}"/>
              </a:ext>
            </a:extLst>
          </p:cNvPr>
          <p:cNvSpPr>
            <a:spLocks noGrp="1"/>
          </p:cNvSpPr>
          <p:nvPr>
            <p:ph idx="1"/>
          </p:nvPr>
        </p:nvSpPr>
        <p:spPr>
          <a:xfrm>
            <a:off x="677334" y="1557274"/>
            <a:ext cx="8596668" cy="4691126"/>
          </a:xfrm>
        </p:spPr>
        <p:txBody>
          <a:bodyPr>
            <a:normAutofit fontScale="92500" lnSpcReduction="10000"/>
          </a:bodyPr>
          <a:lstStyle/>
          <a:p>
            <a:r>
              <a:rPr lang="en-US" dirty="0"/>
              <a:t>The server log dataset was loaded from the CSV file using Python and the Pandas library.</a:t>
            </a:r>
          </a:p>
          <a:p>
            <a:r>
              <a:rPr lang="en-US" dirty="0"/>
              <a:t>Basic data quality checks were performed to identify missing values and duplicate records.</a:t>
            </a:r>
          </a:p>
          <a:p>
            <a:r>
              <a:rPr lang="en-US" dirty="0"/>
              <a:t>The timestamp column was converted into datetime format to enable time-based analysis.</a:t>
            </a:r>
          </a:p>
          <a:p>
            <a:r>
              <a:rPr lang="en-US" dirty="0"/>
              <a:t>Additional metrics such as Total Network Traffic, Availability Rate, and Server Health Score were created to generate meaningful insights from the server logs.</a:t>
            </a:r>
          </a:p>
          <a:p>
            <a:r>
              <a:rPr lang="en-US" dirty="0"/>
              <a:t>The processed dataset was then exported and used for building the Power BI dashboard.</a:t>
            </a:r>
          </a:p>
          <a:p>
            <a:r>
              <a:rPr lang="en-US" dirty="0"/>
              <a:t>This screenshot shows the Python script used to load the dataset, perform data cleaning, and generate additional metrics for server performance analysis.</a:t>
            </a:r>
          </a:p>
          <a:p>
            <a:r>
              <a:rPr lang="en-US" dirty="0"/>
              <a:t>The complete Python implementation for this pipeline is available in the GitHub repository linked below.</a:t>
            </a:r>
          </a:p>
          <a:p>
            <a:pPr marL="0" indent="0">
              <a:buNone/>
            </a:pPr>
            <a:r>
              <a:rPr lang="en-IN" dirty="0">
                <a:solidFill>
                  <a:srgbClr val="FF0000"/>
                </a:solidFill>
                <a:hlinkClick r:id="rId2">
                  <a:extLst>
                    <a:ext uri="{A12FA001-AC4F-418D-AE19-62706E023703}">
                      <ahyp:hlinkClr xmlns:ahyp="http://schemas.microsoft.com/office/drawing/2018/hyperlinkcolor" val="tx"/>
                    </a:ext>
                  </a:extLst>
                </a:hlinkClick>
              </a:rPr>
              <a:t>https://github.com/shivasagardesai/server-monitoring-data-pipeline</a:t>
            </a:r>
            <a:endParaRPr lang="en-US" dirty="0">
              <a:solidFill>
                <a:srgbClr val="FF0000"/>
              </a:solidFill>
            </a:endParaRPr>
          </a:p>
        </p:txBody>
      </p:sp>
    </p:spTree>
    <p:extLst>
      <p:ext uri="{BB962C8B-B14F-4D97-AF65-F5344CB8AC3E}">
        <p14:creationId xmlns:p14="http://schemas.microsoft.com/office/powerpoint/2010/main" val="41320118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Content Placeholder 12">
            <a:extLst>
              <a:ext uri="{FF2B5EF4-FFF2-40B4-BE49-F238E27FC236}">
                <a16:creationId xmlns:a16="http://schemas.microsoft.com/office/drawing/2014/main" id="{8ADB59FE-947D-CE39-E704-7AAA65514F4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9456324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803317F-617A-79A2-BB18-B0661506BF8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9609405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BAED387-EEB0-F3F2-A2FD-0BB9AC00E1C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77544" cy="6858001"/>
          </a:xfrm>
          <a:prstGeom prst="rect">
            <a:avLst/>
          </a:prstGeom>
        </p:spPr>
      </p:pic>
    </p:spTree>
    <p:extLst>
      <p:ext uri="{BB962C8B-B14F-4D97-AF65-F5344CB8AC3E}">
        <p14:creationId xmlns:p14="http://schemas.microsoft.com/office/powerpoint/2010/main" val="2885794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85B16DA-57B2-12D9-BA33-7F478BD44E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9427"/>
            <a:ext cx="12192000" cy="6858000"/>
          </a:xfrm>
          <a:prstGeom prst="rect">
            <a:avLst/>
          </a:prstGeom>
        </p:spPr>
      </p:pic>
    </p:spTree>
    <p:extLst>
      <p:ext uri="{BB962C8B-B14F-4D97-AF65-F5344CB8AC3E}">
        <p14:creationId xmlns:p14="http://schemas.microsoft.com/office/powerpoint/2010/main" val="33578400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EA2A70-21E9-D793-145C-E5254EFC5F10}"/>
              </a:ext>
            </a:extLst>
          </p:cNvPr>
          <p:cNvSpPr>
            <a:spLocks noGrp="1"/>
          </p:cNvSpPr>
          <p:nvPr>
            <p:ph type="ctrTitle"/>
          </p:nvPr>
        </p:nvSpPr>
        <p:spPr>
          <a:xfrm>
            <a:off x="763572" y="274076"/>
            <a:ext cx="8632980" cy="1646302"/>
          </a:xfrm>
        </p:spPr>
        <p:txBody>
          <a:bodyPr/>
          <a:lstStyle/>
          <a:p>
            <a:pPr algn="ctr"/>
            <a:r>
              <a:rPr lang="en-IN" sz="4000" dirty="0"/>
              <a:t>Power BI Dashboard Implementation</a:t>
            </a:r>
          </a:p>
        </p:txBody>
      </p:sp>
      <p:sp>
        <p:nvSpPr>
          <p:cNvPr id="3" name="Subtitle 2">
            <a:extLst>
              <a:ext uri="{FF2B5EF4-FFF2-40B4-BE49-F238E27FC236}">
                <a16:creationId xmlns:a16="http://schemas.microsoft.com/office/drawing/2014/main" id="{4D147823-F6CD-104F-791E-F401D61251F3}"/>
              </a:ext>
            </a:extLst>
          </p:cNvPr>
          <p:cNvSpPr>
            <a:spLocks noGrp="1"/>
          </p:cNvSpPr>
          <p:nvPr>
            <p:ph type="subTitle" idx="1"/>
          </p:nvPr>
        </p:nvSpPr>
        <p:spPr>
          <a:xfrm>
            <a:off x="763572" y="2158739"/>
            <a:ext cx="8510431" cy="4072380"/>
          </a:xfrm>
        </p:spPr>
        <p:txBody>
          <a:bodyPr>
            <a:normAutofit fontScale="85000" lnSpcReduction="10000"/>
          </a:bodyPr>
          <a:lstStyle/>
          <a:p>
            <a:pPr algn="l"/>
            <a:r>
              <a:rPr lang="en-US" sz="2100" dirty="0"/>
              <a:t>• The server log dataset was loaded from the CSV file using Python and the Pandas library.</a:t>
            </a:r>
          </a:p>
          <a:p>
            <a:pPr algn="l"/>
            <a:r>
              <a:rPr lang="en-US" sz="2100" dirty="0"/>
              <a:t>• Basic data quality checks were performed to identify missing values and duplicate records.</a:t>
            </a:r>
          </a:p>
          <a:p>
            <a:pPr algn="l"/>
            <a:r>
              <a:rPr lang="en-US" sz="2100" dirty="0"/>
              <a:t>• The timestamp column was converted into datetime format to enable time-based analysis.</a:t>
            </a:r>
          </a:p>
          <a:p>
            <a:pPr algn="l"/>
            <a:r>
              <a:rPr lang="en-US" sz="2100" dirty="0"/>
              <a:t>• Additional metrics such as Total Network Traffic, Availability Rate, and Server Health Score were created to generate meaningful insights from the server logs.</a:t>
            </a:r>
          </a:p>
          <a:p>
            <a:pPr algn="l"/>
            <a:r>
              <a:rPr lang="en-US" sz="2100" dirty="0"/>
              <a:t>• The processed dataset was then exported and used for building the Power BI dashboard</a:t>
            </a:r>
          </a:p>
          <a:p>
            <a:pPr algn="l"/>
            <a:r>
              <a:rPr lang="en-US" sz="2100" dirty="0"/>
              <a:t>•Below is the Screenshot And Link of the Power BI Dashboard Implementation</a:t>
            </a:r>
            <a:br>
              <a:rPr lang="en-US" sz="2100" dirty="0"/>
            </a:br>
            <a:br>
              <a:rPr lang="en-US" sz="2100" dirty="0">
                <a:solidFill>
                  <a:srgbClr val="FF0000"/>
                </a:solidFill>
              </a:rPr>
            </a:br>
            <a:r>
              <a:rPr lang="en-US" sz="2100" dirty="0">
                <a:solidFill>
                  <a:srgbClr val="FF0000"/>
                </a:solidFill>
                <a:hlinkClick r:id="rId2">
                  <a:extLst>
                    <a:ext uri="{A12FA001-AC4F-418D-AE19-62706E023703}">
                      <ahyp:hlinkClr xmlns:ahyp="http://schemas.microsoft.com/office/drawing/2018/hyperlinkcolor" val="tx"/>
                    </a:ext>
                  </a:extLst>
                </a:hlinkClick>
              </a:rPr>
              <a:t>https://github.com/shivasagardesai/server-monitoring-data-pipeline</a:t>
            </a:r>
            <a:endParaRPr lang="en-US" sz="2100" dirty="0">
              <a:solidFill>
                <a:srgbClr val="FF0000"/>
              </a:solidFill>
            </a:endParaRPr>
          </a:p>
          <a:p>
            <a:endParaRPr lang="en-IN" dirty="0"/>
          </a:p>
        </p:txBody>
      </p:sp>
    </p:spTree>
    <p:extLst>
      <p:ext uri="{BB962C8B-B14F-4D97-AF65-F5344CB8AC3E}">
        <p14:creationId xmlns:p14="http://schemas.microsoft.com/office/powerpoint/2010/main" val="38109707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BD615FD-5BC7-8930-96FC-774783430B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87" y="0"/>
            <a:ext cx="12180626" cy="6858000"/>
          </a:xfrm>
          <a:prstGeom prst="rect">
            <a:avLst/>
          </a:prstGeom>
        </p:spPr>
      </p:pic>
    </p:spTree>
    <p:extLst>
      <p:ext uri="{BB962C8B-B14F-4D97-AF65-F5344CB8AC3E}">
        <p14:creationId xmlns:p14="http://schemas.microsoft.com/office/powerpoint/2010/main" val="25682626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42181-9862-F482-AE2F-FB6079AE521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2AB04D8C-CAB1-9790-6900-A3EF67AAFE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877" y="106100"/>
            <a:ext cx="1164222" cy="233265"/>
          </a:xfrm>
          <a:prstGeom prst="rect">
            <a:avLst/>
          </a:prstGeom>
        </p:spPr>
      </p:pic>
      <p:sp>
        <p:nvSpPr>
          <p:cNvPr id="2" name="Title 1">
            <a:extLst>
              <a:ext uri="{FF2B5EF4-FFF2-40B4-BE49-F238E27FC236}">
                <a16:creationId xmlns:a16="http://schemas.microsoft.com/office/drawing/2014/main" id="{0671FA4B-26A8-71D9-B56F-001F999E6078}"/>
              </a:ext>
            </a:extLst>
          </p:cNvPr>
          <p:cNvSpPr>
            <a:spLocks noGrp="1"/>
          </p:cNvSpPr>
          <p:nvPr>
            <p:ph type="title"/>
          </p:nvPr>
        </p:nvSpPr>
        <p:spPr>
          <a:xfrm>
            <a:off x="664988" y="1269476"/>
            <a:ext cx="8596668" cy="681872"/>
          </a:xfrm>
        </p:spPr>
        <p:txBody>
          <a:bodyPr>
            <a:normAutofit/>
          </a:bodyPr>
          <a:lstStyle/>
          <a:p>
            <a:r>
              <a:rPr lang="en-IN" sz="2800" dirty="0"/>
              <a:t>Implementing Different Approach and Learning</a:t>
            </a:r>
          </a:p>
        </p:txBody>
      </p:sp>
      <p:sp>
        <p:nvSpPr>
          <p:cNvPr id="3" name="Content Placeholder 2">
            <a:extLst>
              <a:ext uri="{FF2B5EF4-FFF2-40B4-BE49-F238E27FC236}">
                <a16:creationId xmlns:a16="http://schemas.microsoft.com/office/drawing/2014/main" id="{82C6F757-048A-B72D-0080-DF770A7E0A99}"/>
              </a:ext>
            </a:extLst>
          </p:cNvPr>
          <p:cNvSpPr>
            <a:spLocks noGrp="1"/>
          </p:cNvSpPr>
          <p:nvPr>
            <p:ph idx="1"/>
          </p:nvPr>
        </p:nvSpPr>
        <p:spPr>
          <a:xfrm>
            <a:off x="561069" y="2339698"/>
            <a:ext cx="9299367" cy="3880773"/>
          </a:xfrm>
        </p:spPr>
        <p:txBody>
          <a:bodyPr>
            <a:normAutofit/>
          </a:bodyPr>
          <a:lstStyle/>
          <a:p>
            <a:r>
              <a:rPr lang="en-US" dirty="0"/>
              <a:t>• While practicing database-based pipelines, I also worked with PostgreSQL using a Neon cloud database connected through </a:t>
            </a:r>
            <a:r>
              <a:rPr lang="en-US" dirty="0" err="1"/>
              <a:t>DBeaver</a:t>
            </a:r>
            <a:r>
              <a:rPr lang="en-US" dirty="0"/>
              <a:t>. In that setup, SQL queries were used to process the data before connecting it to Power BI for visualization</a:t>
            </a:r>
          </a:p>
          <a:p>
            <a:r>
              <a:rPr lang="en-US" dirty="0"/>
              <a:t>• For this project, I focused on building the data pipeline using Python to load, clean, and process the server log dataset. The processed data was then used to create the Power BI dashboard for monitoring server performance</a:t>
            </a:r>
          </a:p>
          <a:p>
            <a:r>
              <a:rPr lang="en-US" dirty="0"/>
              <a:t>• I am currently learning Azure and exploring how similar data pipelines can be implemented using Azure services such as Azure Data Lake and Azure SQL Database</a:t>
            </a:r>
          </a:p>
          <a:p>
            <a:r>
              <a:rPr lang="en-US" dirty="0"/>
              <a:t>• This project helped me understand how data can move from raw logs to meaningful insights through a structured data pipeline and dashboard</a:t>
            </a:r>
          </a:p>
          <a:p>
            <a:endParaRPr lang="en-IN" dirty="0"/>
          </a:p>
        </p:txBody>
      </p:sp>
    </p:spTree>
    <p:extLst>
      <p:ext uri="{BB962C8B-B14F-4D97-AF65-F5344CB8AC3E}">
        <p14:creationId xmlns:p14="http://schemas.microsoft.com/office/powerpoint/2010/main" val="36288870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5E166-524D-21F3-38E9-8BB38BF1FA8D}"/>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75E6E010-620C-CC73-3F71-4420488D4C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877" y="106100"/>
            <a:ext cx="1164222" cy="233265"/>
          </a:xfrm>
          <a:prstGeom prst="rect">
            <a:avLst/>
          </a:prstGeom>
        </p:spPr>
      </p:pic>
      <p:sp>
        <p:nvSpPr>
          <p:cNvPr id="2" name="Title 1">
            <a:extLst>
              <a:ext uri="{FF2B5EF4-FFF2-40B4-BE49-F238E27FC236}">
                <a16:creationId xmlns:a16="http://schemas.microsoft.com/office/drawing/2014/main" id="{F76538B5-E79F-8061-5288-5780755D35C7}"/>
              </a:ext>
            </a:extLst>
          </p:cNvPr>
          <p:cNvSpPr>
            <a:spLocks noGrp="1"/>
          </p:cNvSpPr>
          <p:nvPr>
            <p:ph type="title"/>
          </p:nvPr>
        </p:nvSpPr>
        <p:spPr>
          <a:xfrm>
            <a:off x="664988" y="1269476"/>
            <a:ext cx="8596668" cy="681872"/>
          </a:xfrm>
        </p:spPr>
        <p:txBody>
          <a:bodyPr/>
          <a:lstStyle/>
          <a:p>
            <a:r>
              <a:rPr lang="en-IN" dirty="0"/>
              <a:t>Data Transformation</a:t>
            </a:r>
          </a:p>
        </p:txBody>
      </p:sp>
      <p:sp>
        <p:nvSpPr>
          <p:cNvPr id="3" name="Content Placeholder 2">
            <a:extLst>
              <a:ext uri="{FF2B5EF4-FFF2-40B4-BE49-F238E27FC236}">
                <a16:creationId xmlns:a16="http://schemas.microsoft.com/office/drawing/2014/main" id="{ADFBA4BE-E59E-508E-C7A4-848014926747}"/>
              </a:ext>
            </a:extLst>
          </p:cNvPr>
          <p:cNvSpPr>
            <a:spLocks noGrp="1"/>
          </p:cNvSpPr>
          <p:nvPr>
            <p:ph idx="1"/>
          </p:nvPr>
        </p:nvSpPr>
        <p:spPr>
          <a:xfrm>
            <a:off x="561070" y="2253006"/>
            <a:ext cx="8596668" cy="4232634"/>
          </a:xfrm>
        </p:spPr>
        <p:txBody>
          <a:bodyPr>
            <a:normAutofit/>
          </a:bodyPr>
          <a:lstStyle/>
          <a:p>
            <a:r>
              <a:rPr lang="en-US" dirty="0"/>
              <a:t>Data quality checks was performed to remove duplicates and validate system metrics</a:t>
            </a:r>
          </a:p>
          <a:p>
            <a:r>
              <a:rPr lang="en-US" dirty="0"/>
              <a:t>• Timestamp </a:t>
            </a:r>
            <a:r>
              <a:rPr lang="en-US" dirty="0" err="1"/>
              <a:t>coloum</a:t>
            </a:r>
            <a:r>
              <a:rPr lang="en-US" dirty="0"/>
              <a:t> were converted into proper datetime format</a:t>
            </a:r>
          </a:p>
          <a:p>
            <a:r>
              <a:rPr lang="en-US" dirty="0"/>
              <a:t>• Additional metrics were created to generate meaningful insights</a:t>
            </a:r>
          </a:p>
          <a:p>
            <a:r>
              <a:rPr lang="en-US" b="1" u="sng" dirty="0"/>
              <a:t>New metrics:</a:t>
            </a:r>
          </a:p>
          <a:p>
            <a:r>
              <a:rPr lang="en-US" dirty="0"/>
              <a:t>1) Total Network Traffic</a:t>
            </a:r>
            <a:br>
              <a:rPr lang="en-US" dirty="0"/>
            </a:br>
            <a:r>
              <a:rPr lang="en-US" dirty="0"/>
              <a:t>2) Availability Rate</a:t>
            </a:r>
            <a:br>
              <a:rPr lang="en-US" dirty="0"/>
            </a:br>
            <a:r>
              <a:rPr lang="en-US" dirty="0"/>
              <a:t>3) Server Health Score</a:t>
            </a:r>
          </a:p>
          <a:p>
            <a:r>
              <a:rPr lang="en-US" dirty="0"/>
              <a:t>• Total Network Traffic measures overall data transfer activity</a:t>
            </a:r>
          </a:p>
          <a:p>
            <a:r>
              <a:rPr lang="en-US" dirty="0"/>
              <a:t>• Availability Rate measures system reliability</a:t>
            </a:r>
          </a:p>
          <a:p>
            <a:r>
              <a:rPr lang="en-US" dirty="0"/>
              <a:t>• Server Health Score summarizes overall system condition</a:t>
            </a:r>
          </a:p>
          <a:p>
            <a:endParaRPr lang="en-US" dirty="0"/>
          </a:p>
          <a:p>
            <a:endParaRPr lang="en-IN" dirty="0"/>
          </a:p>
        </p:txBody>
      </p:sp>
    </p:spTree>
    <p:extLst>
      <p:ext uri="{BB962C8B-B14F-4D97-AF65-F5344CB8AC3E}">
        <p14:creationId xmlns:p14="http://schemas.microsoft.com/office/powerpoint/2010/main" val="38419499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5D9239-DBFA-2C16-4A5E-07B816D7138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125469A-570B-B7F6-0882-AC4C5BFF0DD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877" y="106100"/>
            <a:ext cx="1164222" cy="233265"/>
          </a:xfrm>
          <a:prstGeom prst="rect">
            <a:avLst/>
          </a:prstGeom>
        </p:spPr>
      </p:pic>
      <p:sp>
        <p:nvSpPr>
          <p:cNvPr id="2" name="Title 1">
            <a:extLst>
              <a:ext uri="{FF2B5EF4-FFF2-40B4-BE49-F238E27FC236}">
                <a16:creationId xmlns:a16="http://schemas.microsoft.com/office/drawing/2014/main" id="{9A3EC7D4-6436-BCF0-ABB3-6544A95F72FC}"/>
              </a:ext>
            </a:extLst>
          </p:cNvPr>
          <p:cNvSpPr>
            <a:spLocks noGrp="1"/>
          </p:cNvSpPr>
          <p:nvPr>
            <p:ph type="title"/>
          </p:nvPr>
        </p:nvSpPr>
        <p:spPr>
          <a:xfrm>
            <a:off x="664988" y="1269476"/>
            <a:ext cx="8596668" cy="681872"/>
          </a:xfrm>
        </p:spPr>
        <p:txBody>
          <a:bodyPr/>
          <a:lstStyle/>
          <a:p>
            <a:r>
              <a:rPr lang="en-IN" dirty="0"/>
              <a:t>Server Monitoring Power BI Dashboard</a:t>
            </a:r>
          </a:p>
        </p:txBody>
      </p:sp>
      <p:sp>
        <p:nvSpPr>
          <p:cNvPr id="3" name="Content Placeholder 2">
            <a:extLst>
              <a:ext uri="{FF2B5EF4-FFF2-40B4-BE49-F238E27FC236}">
                <a16:creationId xmlns:a16="http://schemas.microsoft.com/office/drawing/2014/main" id="{FFE3DA5F-4123-1D83-1D3D-D9460AF2439B}"/>
              </a:ext>
            </a:extLst>
          </p:cNvPr>
          <p:cNvSpPr>
            <a:spLocks noGrp="1"/>
          </p:cNvSpPr>
          <p:nvPr>
            <p:ph idx="1"/>
          </p:nvPr>
        </p:nvSpPr>
        <p:spPr>
          <a:xfrm>
            <a:off x="561070" y="2253006"/>
            <a:ext cx="8596668" cy="3252248"/>
          </a:xfrm>
        </p:spPr>
        <p:txBody>
          <a:bodyPr>
            <a:normAutofit/>
          </a:bodyPr>
          <a:lstStyle/>
          <a:p>
            <a:r>
              <a:rPr lang="en-US" dirty="0"/>
              <a:t>• CPU utilization monitoring</a:t>
            </a:r>
          </a:p>
          <a:p>
            <a:r>
              <a:rPr lang="en-US" dirty="0"/>
              <a:t>• Memory usage analysis</a:t>
            </a:r>
          </a:p>
          <a:p>
            <a:r>
              <a:rPr lang="en-US" dirty="0"/>
              <a:t>• Network traffic monitoring</a:t>
            </a:r>
          </a:p>
          <a:p>
            <a:r>
              <a:rPr lang="en-US" dirty="0"/>
              <a:t>• KPI indicators for system health</a:t>
            </a:r>
          </a:p>
          <a:p>
            <a:r>
              <a:rPr lang="en-US" dirty="0"/>
              <a:t>• slicer for server location, OS type, and hostname</a:t>
            </a:r>
          </a:p>
          <a:p>
            <a:endParaRPr lang="en-IN" dirty="0"/>
          </a:p>
        </p:txBody>
      </p:sp>
    </p:spTree>
    <p:extLst>
      <p:ext uri="{BB962C8B-B14F-4D97-AF65-F5344CB8AC3E}">
        <p14:creationId xmlns:p14="http://schemas.microsoft.com/office/powerpoint/2010/main" val="27069159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CA2DB-82E3-62C3-D1DB-3D627801AF0F}"/>
              </a:ext>
            </a:extLst>
          </p:cNvPr>
          <p:cNvSpPr>
            <a:spLocks noGrp="1"/>
          </p:cNvSpPr>
          <p:nvPr>
            <p:ph type="ctrTitle"/>
          </p:nvPr>
        </p:nvSpPr>
        <p:spPr>
          <a:xfrm>
            <a:off x="790629" y="1857779"/>
            <a:ext cx="8211968" cy="1733833"/>
          </a:xfrm>
        </p:spPr>
        <p:txBody>
          <a:bodyPr/>
          <a:lstStyle/>
          <a:p>
            <a:r>
              <a:rPr lang="en-IN" dirty="0"/>
              <a:t>Thank You “NEOSTATS”</a:t>
            </a:r>
          </a:p>
        </p:txBody>
      </p:sp>
    </p:spTree>
    <p:extLst>
      <p:ext uri="{BB962C8B-B14F-4D97-AF65-F5344CB8AC3E}">
        <p14:creationId xmlns:p14="http://schemas.microsoft.com/office/powerpoint/2010/main" val="313463899"/>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92</TotalTime>
  <Words>657</Words>
  <Application>Microsoft Office PowerPoint</Application>
  <PresentationFormat>Widescreen</PresentationFormat>
  <Paragraphs>63</Paragraphs>
  <Slides>15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Trebuchet MS</vt:lpstr>
      <vt:lpstr>Wingdings 3</vt:lpstr>
      <vt:lpstr>Facet</vt:lpstr>
      <vt:lpstr>Virtual Server Monitoring and Performance Optimization</vt:lpstr>
      <vt:lpstr>Problem Statement </vt:lpstr>
      <vt:lpstr>Dataset Overview</vt:lpstr>
      <vt:lpstr>Data Pipeline Architecture</vt:lpstr>
      <vt:lpstr>Data Pipeline Implementation (Python)</vt:lpstr>
      <vt:lpstr>PowerPoint Presentation</vt:lpstr>
      <vt:lpstr>PowerPoint Presentation</vt:lpstr>
      <vt:lpstr>PowerPoint Presentation</vt:lpstr>
      <vt:lpstr>PowerPoint Presentation</vt:lpstr>
      <vt:lpstr>Power BI Dashboard Implementation</vt:lpstr>
      <vt:lpstr>PowerPoint Presentation</vt:lpstr>
      <vt:lpstr>Implementing Different Approach and Learning</vt:lpstr>
      <vt:lpstr>Data Transformation</vt:lpstr>
      <vt:lpstr>Server Monitoring Power BI Dashboard</vt:lpstr>
      <vt:lpstr>Thank You “NEOSTATS”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Shiva Sagar</dc:creator>
  <cp:lastModifiedBy>Shiva Sagar</cp:lastModifiedBy>
  <cp:revision>2</cp:revision>
  <dcterms:created xsi:type="dcterms:W3CDTF">2026-03-13T18:56:12Z</dcterms:created>
  <dcterms:modified xsi:type="dcterms:W3CDTF">2026-03-15T19:18:56Z</dcterms:modified>
</cp:coreProperties>
</file>